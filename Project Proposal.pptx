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9" r:id="rId2"/>
    <p:sldId id="257" r:id="rId3"/>
    <p:sldId id="300" r:id="rId4"/>
    <p:sldId id="343" r:id="rId5"/>
    <p:sldId id="299" r:id="rId6"/>
    <p:sldId id="308" r:id="rId7"/>
    <p:sldId id="309" r:id="rId8"/>
    <p:sldId id="310" r:id="rId9"/>
    <p:sldId id="333" r:id="rId10"/>
    <p:sldId id="313" r:id="rId11"/>
    <p:sldId id="344" r:id="rId12"/>
    <p:sldId id="351" r:id="rId13"/>
    <p:sldId id="345" r:id="rId14"/>
    <p:sldId id="347" r:id="rId15"/>
    <p:sldId id="336" r:id="rId16"/>
    <p:sldId id="352" r:id="rId17"/>
    <p:sldId id="353" r:id="rId18"/>
    <p:sldId id="354" r:id="rId19"/>
    <p:sldId id="314" r:id="rId20"/>
    <p:sldId id="315" r:id="rId21"/>
    <p:sldId id="341" r:id="rId22"/>
    <p:sldId id="31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28FE0-E87F-4AAF-84CF-537C869F1B2D}" type="datetimeFigureOut">
              <a:rPr lang="en-IN" smtClean="0"/>
              <a:t>05-03-2026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7ED5E-2731-4FC6-879B-EB7070716EC3}" type="slidenum">
              <a:rPr lang="en-IN" smtClean="0"/>
              <a:t>‹#›</a:t>
            </a:fld>
            <a:endParaRPr lang="en-IN"/>
          </a:p>
        </p:txBody>
      </p:sp>
    </p:spTree>
    <p:extLst>
      <p:ext uri="{BB962C8B-B14F-4D97-AF65-F5344CB8AC3E}">
        <p14:creationId xmlns:p14="http://schemas.microsoft.com/office/powerpoint/2010/main" val="3161715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800" b="1" i="1" u="sng"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07095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69390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62995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91490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DA89A-C679-E7B5-84F4-1C3FA92CE8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F1B4688-B886-2DE7-8DD8-1E7A486B11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DED34D-8764-A205-D98C-AB2C8DA04DAA}"/>
              </a:ext>
            </a:extLst>
          </p:cNvPr>
          <p:cNvSpPr>
            <a:spLocks noGrp="1"/>
          </p:cNvSpPr>
          <p:nvPr>
            <p:ph type="dt" sz="half" idx="10"/>
          </p:nvPr>
        </p:nvSpPr>
        <p:spPr/>
        <p:txBody>
          <a:bodyPr/>
          <a:lstStyle/>
          <a:p>
            <a:fld id="{DD9C2CA8-7230-47CD-B504-4FD8FC3F62CB}" type="datetimeFigureOut">
              <a:rPr lang="en-IN" smtClean="0"/>
              <a:t>05-03-2026</a:t>
            </a:fld>
            <a:endParaRPr lang="en-IN"/>
          </a:p>
        </p:txBody>
      </p:sp>
      <p:sp>
        <p:nvSpPr>
          <p:cNvPr id="5" name="Footer Placeholder 4">
            <a:extLst>
              <a:ext uri="{FF2B5EF4-FFF2-40B4-BE49-F238E27FC236}">
                <a16:creationId xmlns:a16="http://schemas.microsoft.com/office/drawing/2014/main" id="{02034587-6217-B3BB-BB4C-042EC241B3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1BE77D-B6D2-6680-0B45-43EDD9A53E8F}"/>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2712774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03C89-8DBA-CFBF-A394-3414CA3F4A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3CF2A5-E5E8-ECD8-A3E4-F1B6FCE769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81F291-4E2E-3F0A-93D4-C889761C74A2}"/>
              </a:ext>
            </a:extLst>
          </p:cNvPr>
          <p:cNvSpPr>
            <a:spLocks noGrp="1"/>
          </p:cNvSpPr>
          <p:nvPr>
            <p:ph type="dt" sz="half" idx="10"/>
          </p:nvPr>
        </p:nvSpPr>
        <p:spPr/>
        <p:txBody>
          <a:bodyPr/>
          <a:lstStyle/>
          <a:p>
            <a:fld id="{DD9C2CA8-7230-47CD-B504-4FD8FC3F62CB}" type="datetimeFigureOut">
              <a:rPr lang="en-IN" smtClean="0"/>
              <a:t>05-03-2026</a:t>
            </a:fld>
            <a:endParaRPr lang="en-IN"/>
          </a:p>
        </p:txBody>
      </p:sp>
      <p:sp>
        <p:nvSpPr>
          <p:cNvPr id="5" name="Footer Placeholder 4">
            <a:extLst>
              <a:ext uri="{FF2B5EF4-FFF2-40B4-BE49-F238E27FC236}">
                <a16:creationId xmlns:a16="http://schemas.microsoft.com/office/drawing/2014/main" id="{223D4FC2-A14C-C688-DBAD-73865B6D92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558FAE-473F-DE88-7FB5-C0C6DF0A4289}"/>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763213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DF3FB-3513-2CDF-F50B-1E98E9DCFD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F8CF5E-FD94-8F5A-21DF-EDA41F5D2E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B4C8B7-07DE-C1BB-008A-3946F71F4592}"/>
              </a:ext>
            </a:extLst>
          </p:cNvPr>
          <p:cNvSpPr>
            <a:spLocks noGrp="1"/>
          </p:cNvSpPr>
          <p:nvPr>
            <p:ph type="dt" sz="half" idx="10"/>
          </p:nvPr>
        </p:nvSpPr>
        <p:spPr/>
        <p:txBody>
          <a:bodyPr/>
          <a:lstStyle/>
          <a:p>
            <a:fld id="{DD9C2CA8-7230-47CD-B504-4FD8FC3F62CB}" type="datetimeFigureOut">
              <a:rPr lang="en-IN" smtClean="0"/>
              <a:t>05-03-2026</a:t>
            </a:fld>
            <a:endParaRPr lang="en-IN"/>
          </a:p>
        </p:txBody>
      </p:sp>
      <p:sp>
        <p:nvSpPr>
          <p:cNvPr id="5" name="Footer Placeholder 4">
            <a:extLst>
              <a:ext uri="{FF2B5EF4-FFF2-40B4-BE49-F238E27FC236}">
                <a16:creationId xmlns:a16="http://schemas.microsoft.com/office/drawing/2014/main" id="{82ABC4B2-B04B-5676-5FB6-8402D64777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CD8FB7-302E-8DBD-C136-07D92409FD6C}"/>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333874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482F-1675-0088-DEA0-1D44F8ED75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6CABD4-DCBB-FFE5-619D-86EC7BE361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324ABEE-37D5-A976-E4CF-CC7AB8A55E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B28E119-5521-BDD0-61E2-BC2CC92B5329}"/>
              </a:ext>
            </a:extLst>
          </p:cNvPr>
          <p:cNvSpPr>
            <a:spLocks noGrp="1"/>
          </p:cNvSpPr>
          <p:nvPr>
            <p:ph type="dt" sz="half" idx="10"/>
          </p:nvPr>
        </p:nvSpPr>
        <p:spPr/>
        <p:txBody>
          <a:bodyPr/>
          <a:lstStyle/>
          <a:p>
            <a:fld id="{DD9C2CA8-7230-47CD-B504-4FD8FC3F62CB}" type="datetimeFigureOut">
              <a:rPr lang="en-IN" smtClean="0"/>
              <a:t>05-03-2026</a:t>
            </a:fld>
            <a:endParaRPr lang="en-IN"/>
          </a:p>
        </p:txBody>
      </p:sp>
      <p:sp>
        <p:nvSpPr>
          <p:cNvPr id="6" name="Footer Placeholder 5">
            <a:extLst>
              <a:ext uri="{FF2B5EF4-FFF2-40B4-BE49-F238E27FC236}">
                <a16:creationId xmlns:a16="http://schemas.microsoft.com/office/drawing/2014/main" id="{40B2EF46-F69D-50C6-8D30-A606AE91F3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EB3F4F-5793-7B6C-7F1B-5B2EF71D8D0A}"/>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1790387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3FDD6-5C84-1DF2-7B87-E77EC7B1F06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B39929-A1B2-15FB-5BE8-AA0C2C367E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4DB428-2819-9403-FACB-5051D30D73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2C20D7-D685-98A8-CAA1-6440D6FC8D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BD7CD4-6D47-1F81-A1E0-3BC6C1469F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F0BE6C-5B42-4A9F-5396-88F42D8DD0D5}"/>
              </a:ext>
            </a:extLst>
          </p:cNvPr>
          <p:cNvSpPr>
            <a:spLocks noGrp="1"/>
          </p:cNvSpPr>
          <p:nvPr>
            <p:ph type="dt" sz="half" idx="10"/>
          </p:nvPr>
        </p:nvSpPr>
        <p:spPr/>
        <p:txBody>
          <a:bodyPr/>
          <a:lstStyle/>
          <a:p>
            <a:fld id="{DD9C2CA8-7230-47CD-B504-4FD8FC3F62CB}" type="datetimeFigureOut">
              <a:rPr lang="en-IN" smtClean="0"/>
              <a:t>05-03-2026</a:t>
            </a:fld>
            <a:endParaRPr lang="en-IN"/>
          </a:p>
        </p:txBody>
      </p:sp>
      <p:sp>
        <p:nvSpPr>
          <p:cNvPr id="8" name="Footer Placeholder 7">
            <a:extLst>
              <a:ext uri="{FF2B5EF4-FFF2-40B4-BE49-F238E27FC236}">
                <a16:creationId xmlns:a16="http://schemas.microsoft.com/office/drawing/2014/main" id="{6A48937F-FC3B-2B10-A72A-9E8F49C1FCD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77B3E5A-7496-AF83-D4AB-4A17A5EDA322}"/>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2103390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2EC5A-7EDB-4EF4-E685-00845E8C04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5C1875B-33E2-FEB7-040B-5CC57718263F}"/>
              </a:ext>
            </a:extLst>
          </p:cNvPr>
          <p:cNvSpPr>
            <a:spLocks noGrp="1"/>
          </p:cNvSpPr>
          <p:nvPr>
            <p:ph type="dt" sz="half" idx="10"/>
          </p:nvPr>
        </p:nvSpPr>
        <p:spPr/>
        <p:txBody>
          <a:bodyPr/>
          <a:lstStyle/>
          <a:p>
            <a:fld id="{DD9C2CA8-7230-47CD-B504-4FD8FC3F62CB}" type="datetimeFigureOut">
              <a:rPr lang="en-IN" smtClean="0"/>
              <a:t>05-03-2026</a:t>
            </a:fld>
            <a:endParaRPr lang="en-IN"/>
          </a:p>
        </p:txBody>
      </p:sp>
      <p:sp>
        <p:nvSpPr>
          <p:cNvPr id="4" name="Footer Placeholder 3">
            <a:extLst>
              <a:ext uri="{FF2B5EF4-FFF2-40B4-BE49-F238E27FC236}">
                <a16:creationId xmlns:a16="http://schemas.microsoft.com/office/drawing/2014/main" id="{DC7EB7A2-C067-B92F-12E0-8E0A6001750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53EE9C-F022-C6B6-7CB0-78E428A71FF3}"/>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31327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9AC859-3154-212B-0CBC-A00BB9635597}"/>
              </a:ext>
            </a:extLst>
          </p:cNvPr>
          <p:cNvSpPr>
            <a:spLocks noGrp="1"/>
          </p:cNvSpPr>
          <p:nvPr>
            <p:ph type="dt" sz="half" idx="10"/>
          </p:nvPr>
        </p:nvSpPr>
        <p:spPr/>
        <p:txBody>
          <a:bodyPr/>
          <a:lstStyle/>
          <a:p>
            <a:fld id="{DD9C2CA8-7230-47CD-B504-4FD8FC3F62CB}" type="datetimeFigureOut">
              <a:rPr lang="en-IN" smtClean="0"/>
              <a:t>05-03-2026</a:t>
            </a:fld>
            <a:endParaRPr lang="en-IN"/>
          </a:p>
        </p:txBody>
      </p:sp>
      <p:sp>
        <p:nvSpPr>
          <p:cNvPr id="3" name="Footer Placeholder 2">
            <a:extLst>
              <a:ext uri="{FF2B5EF4-FFF2-40B4-BE49-F238E27FC236}">
                <a16:creationId xmlns:a16="http://schemas.microsoft.com/office/drawing/2014/main" id="{A96AC5A5-7393-A6AF-10BF-88DF9278EA1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5DF9B85-9CA9-6110-43B8-A139F91D8157}"/>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433412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2DB74-7CC8-F71E-5F05-C7869E05E3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BC138B7-F362-38EE-1C5F-0F87829808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B50922-C193-5735-1160-E5F67AEC74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6FFF3-2682-7083-F6E5-BCEF3B0B1C3C}"/>
              </a:ext>
            </a:extLst>
          </p:cNvPr>
          <p:cNvSpPr>
            <a:spLocks noGrp="1"/>
          </p:cNvSpPr>
          <p:nvPr>
            <p:ph type="dt" sz="half" idx="10"/>
          </p:nvPr>
        </p:nvSpPr>
        <p:spPr/>
        <p:txBody>
          <a:bodyPr/>
          <a:lstStyle/>
          <a:p>
            <a:fld id="{DD9C2CA8-7230-47CD-B504-4FD8FC3F62CB}" type="datetimeFigureOut">
              <a:rPr lang="en-IN" smtClean="0"/>
              <a:t>05-03-2026</a:t>
            </a:fld>
            <a:endParaRPr lang="en-IN"/>
          </a:p>
        </p:txBody>
      </p:sp>
      <p:sp>
        <p:nvSpPr>
          <p:cNvPr id="6" name="Footer Placeholder 5">
            <a:extLst>
              <a:ext uri="{FF2B5EF4-FFF2-40B4-BE49-F238E27FC236}">
                <a16:creationId xmlns:a16="http://schemas.microsoft.com/office/drawing/2014/main" id="{58F0F5B4-28F3-1F81-AB8F-A53758620F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690AFE-3087-A356-D9C3-3A8D584B0AB5}"/>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848200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7369B-1058-82D9-4356-A2B3B04D2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B5F9BA-917C-6AB7-C972-926323E967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B2B11D-6E10-8968-3843-8394D0A2CE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24E548-86FB-5E6E-FA52-6A061C9E110F}"/>
              </a:ext>
            </a:extLst>
          </p:cNvPr>
          <p:cNvSpPr>
            <a:spLocks noGrp="1"/>
          </p:cNvSpPr>
          <p:nvPr>
            <p:ph type="dt" sz="half" idx="10"/>
          </p:nvPr>
        </p:nvSpPr>
        <p:spPr/>
        <p:txBody>
          <a:bodyPr/>
          <a:lstStyle/>
          <a:p>
            <a:fld id="{DD9C2CA8-7230-47CD-B504-4FD8FC3F62CB}" type="datetimeFigureOut">
              <a:rPr lang="en-IN" smtClean="0"/>
              <a:t>05-03-2026</a:t>
            </a:fld>
            <a:endParaRPr lang="en-IN"/>
          </a:p>
        </p:txBody>
      </p:sp>
      <p:sp>
        <p:nvSpPr>
          <p:cNvPr id="6" name="Footer Placeholder 5">
            <a:extLst>
              <a:ext uri="{FF2B5EF4-FFF2-40B4-BE49-F238E27FC236}">
                <a16:creationId xmlns:a16="http://schemas.microsoft.com/office/drawing/2014/main" id="{C48C223F-959A-58CC-2B9F-1642525F5F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B9ED4E-A688-3157-24F0-480E91BE1DE6}"/>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650190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F114F-3AB5-DEBC-D8AA-DFA29217E5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B239FA-8434-0845-115D-C4FCECF825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59BC7D-E148-57E4-604B-3D327CBA4596}"/>
              </a:ext>
            </a:extLst>
          </p:cNvPr>
          <p:cNvSpPr>
            <a:spLocks noGrp="1"/>
          </p:cNvSpPr>
          <p:nvPr>
            <p:ph type="dt" sz="half" idx="10"/>
          </p:nvPr>
        </p:nvSpPr>
        <p:spPr/>
        <p:txBody>
          <a:bodyPr/>
          <a:lstStyle/>
          <a:p>
            <a:fld id="{DD9C2CA8-7230-47CD-B504-4FD8FC3F62CB}" type="datetimeFigureOut">
              <a:rPr lang="en-IN" smtClean="0"/>
              <a:t>05-03-2026</a:t>
            </a:fld>
            <a:endParaRPr lang="en-IN"/>
          </a:p>
        </p:txBody>
      </p:sp>
      <p:sp>
        <p:nvSpPr>
          <p:cNvPr id="5" name="Footer Placeholder 4">
            <a:extLst>
              <a:ext uri="{FF2B5EF4-FFF2-40B4-BE49-F238E27FC236}">
                <a16:creationId xmlns:a16="http://schemas.microsoft.com/office/drawing/2014/main" id="{4C359BF4-F9FB-9FCF-6A35-22E15BDABC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F1095A-42EE-525D-423A-75D7195C5C16}"/>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1412805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1E7885-9EE6-EFF5-E0AB-FFC208146D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ECFF42-A85B-3474-36D3-D820083E2B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51C8B2-1178-2D43-3CBD-79E237C88C1A}"/>
              </a:ext>
            </a:extLst>
          </p:cNvPr>
          <p:cNvSpPr>
            <a:spLocks noGrp="1"/>
          </p:cNvSpPr>
          <p:nvPr>
            <p:ph type="dt" sz="half" idx="10"/>
          </p:nvPr>
        </p:nvSpPr>
        <p:spPr/>
        <p:txBody>
          <a:bodyPr/>
          <a:lstStyle/>
          <a:p>
            <a:fld id="{DD9C2CA8-7230-47CD-B504-4FD8FC3F62CB}" type="datetimeFigureOut">
              <a:rPr lang="en-IN" smtClean="0"/>
              <a:t>05-03-2026</a:t>
            </a:fld>
            <a:endParaRPr lang="en-IN"/>
          </a:p>
        </p:txBody>
      </p:sp>
      <p:sp>
        <p:nvSpPr>
          <p:cNvPr id="5" name="Footer Placeholder 4">
            <a:extLst>
              <a:ext uri="{FF2B5EF4-FFF2-40B4-BE49-F238E27FC236}">
                <a16:creationId xmlns:a16="http://schemas.microsoft.com/office/drawing/2014/main" id="{994F4FB0-2A0D-8238-2730-2F7B6A3331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313001-75B3-C024-061C-09D80860BC76}"/>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2829516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10059311" y="877033"/>
            <a:ext cx="1732400" cy="577200"/>
          </a:xfrm>
          <a:prstGeom prst="triangle">
            <a:avLst>
              <a:gd name="adj" fmla="val 32425"/>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11" name="Google Shape;11;p2"/>
          <p:cNvGrpSpPr/>
          <p:nvPr/>
        </p:nvGrpSpPr>
        <p:grpSpPr>
          <a:xfrm>
            <a:off x="0" y="-9451"/>
            <a:ext cx="11548531" cy="6867451"/>
            <a:chOff x="0" y="-7088"/>
            <a:chExt cx="8661398" cy="5150588"/>
          </a:xfrm>
        </p:grpSpPr>
        <p:sp>
          <p:nvSpPr>
            <p:cNvPr id="12"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14" name="Google Shape;14;p2"/>
          <p:cNvGrpSpPr/>
          <p:nvPr/>
        </p:nvGrpSpPr>
        <p:grpSpPr>
          <a:xfrm rot="10800000" flipH="1">
            <a:off x="2" y="1454351"/>
            <a:ext cx="11796669" cy="3949300"/>
            <a:chOff x="-8178042" y="-4493254"/>
            <a:chExt cx="19483598" cy="6522736"/>
          </a:xfrm>
        </p:grpSpPr>
        <p:sp>
          <p:nvSpPr>
            <p:cNvPr id="15"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17" name="Google Shape;17;p2"/>
          <p:cNvGrpSpPr/>
          <p:nvPr/>
        </p:nvGrpSpPr>
        <p:grpSpPr>
          <a:xfrm>
            <a:off x="4902982" y="5704465"/>
            <a:ext cx="7307772" cy="577328"/>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2" name="Google Shape;22;p2"/>
          <p:cNvSpPr txBox="1">
            <a:spLocks noGrp="1"/>
          </p:cNvSpPr>
          <p:nvPr>
            <p:ph type="ctrTitle"/>
          </p:nvPr>
        </p:nvSpPr>
        <p:spPr>
          <a:xfrm>
            <a:off x="914400" y="1454333"/>
            <a:ext cx="7157200" cy="39492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lgn="ctr">
              <a:spcBef>
                <a:spcPts val="0"/>
              </a:spcBef>
              <a:spcAft>
                <a:spcPts val="0"/>
              </a:spcAft>
              <a:buSzPts val="4800"/>
              <a:buNone/>
              <a:defRPr sz="6400"/>
            </a:lvl2pPr>
            <a:lvl3pPr lvl="2" algn="ctr">
              <a:spcBef>
                <a:spcPts val="0"/>
              </a:spcBef>
              <a:spcAft>
                <a:spcPts val="0"/>
              </a:spcAft>
              <a:buSzPts val="4800"/>
              <a:buNone/>
              <a:defRPr sz="6400"/>
            </a:lvl3pPr>
            <a:lvl4pPr lvl="3" algn="ctr">
              <a:spcBef>
                <a:spcPts val="0"/>
              </a:spcBef>
              <a:spcAft>
                <a:spcPts val="0"/>
              </a:spcAft>
              <a:buSzPts val="4800"/>
              <a:buNone/>
              <a:defRPr sz="6400"/>
            </a:lvl4pPr>
            <a:lvl5pPr lvl="4" algn="ctr">
              <a:spcBef>
                <a:spcPts val="0"/>
              </a:spcBef>
              <a:spcAft>
                <a:spcPts val="0"/>
              </a:spcAft>
              <a:buSzPts val="4800"/>
              <a:buNone/>
              <a:defRPr sz="6400"/>
            </a:lvl5pPr>
            <a:lvl6pPr lvl="5" algn="ctr">
              <a:spcBef>
                <a:spcPts val="0"/>
              </a:spcBef>
              <a:spcAft>
                <a:spcPts val="0"/>
              </a:spcAft>
              <a:buSzPts val="4800"/>
              <a:buNone/>
              <a:defRPr sz="6400"/>
            </a:lvl6pPr>
            <a:lvl7pPr lvl="6" algn="ctr">
              <a:spcBef>
                <a:spcPts val="0"/>
              </a:spcBef>
              <a:spcAft>
                <a:spcPts val="0"/>
              </a:spcAft>
              <a:buSzPts val="4800"/>
              <a:buNone/>
              <a:defRPr sz="6400"/>
            </a:lvl7pPr>
            <a:lvl8pPr lvl="7" algn="ctr">
              <a:spcBef>
                <a:spcPts val="0"/>
              </a:spcBef>
              <a:spcAft>
                <a:spcPts val="0"/>
              </a:spcAft>
              <a:buSzPts val="4800"/>
              <a:buNone/>
              <a:defRPr sz="6400"/>
            </a:lvl8pPr>
            <a:lvl9pPr lvl="8" algn="ctr">
              <a:spcBef>
                <a:spcPts val="0"/>
              </a:spcBef>
              <a:spcAft>
                <a:spcPts val="0"/>
              </a:spcAft>
              <a:buSzPts val="4800"/>
              <a:buNone/>
              <a:defRPr sz="6400"/>
            </a:lvl9pPr>
          </a:lstStyle>
          <a:p>
            <a:endParaRPr/>
          </a:p>
        </p:txBody>
      </p:sp>
    </p:spTree>
    <p:extLst>
      <p:ext uri="{BB962C8B-B14F-4D97-AF65-F5344CB8AC3E}">
        <p14:creationId xmlns:p14="http://schemas.microsoft.com/office/powerpoint/2010/main" val="30106895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81"/>
        <p:cNvGrpSpPr/>
        <p:nvPr/>
      </p:nvGrpSpPr>
      <p:grpSpPr>
        <a:xfrm>
          <a:off x="0" y="0"/>
          <a:ext cx="0" cy="0"/>
          <a:chOff x="0" y="0"/>
          <a:chExt cx="0" cy="0"/>
        </a:xfrm>
      </p:grpSpPr>
      <p:grpSp>
        <p:nvGrpSpPr>
          <p:cNvPr id="82" name="Google Shape;82;p6"/>
          <p:cNvGrpSpPr/>
          <p:nvPr/>
        </p:nvGrpSpPr>
        <p:grpSpPr>
          <a:xfrm>
            <a:off x="-6" y="54"/>
            <a:ext cx="9429907" cy="1769753"/>
            <a:chOff x="-4" y="40"/>
            <a:chExt cx="7072430" cy="1327315"/>
          </a:xfrm>
        </p:grpSpPr>
        <p:sp>
          <p:nvSpPr>
            <p:cNvPr id="83" name="Google Shape;83;p6"/>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84" name="Google Shape;84;p6"/>
            <p:cNvGrpSpPr/>
            <p:nvPr/>
          </p:nvGrpSpPr>
          <p:grpSpPr>
            <a:xfrm rot="10800000" flipH="1">
              <a:off x="3" y="40"/>
              <a:ext cx="6756168" cy="1327315"/>
              <a:chOff x="-2168138" y="330075"/>
              <a:chExt cx="8650663" cy="1699506"/>
            </a:xfrm>
          </p:grpSpPr>
          <p:sp>
            <p:nvSpPr>
              <p:cNvPr id="85" name="Google Shape;85;p6"/>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86" name="Google Shape;86;p6"/>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87" name="Google Shape;87;p6"/>
            <p:cNvGrpSpPr/>
            <p:nvPr/>
          </p:nvGrpSpPr>
          <p:grpSpPr>
            <a:xfrm rot="10800000" flipH="1">
              <a:off x="-4" y="381007"/>
              <a:ext cx="7072430" cy="771744"/>
              <a:chOff x="-9092084" y="330075"/>
              <a:chExt cx="15574609" cy="1699501"/>
            </a:xfrm>
          </p:grpSpPr>
          <p:sp>
            <p:nvSpPr>
              <p:cNvPr id="88" name="Google Shape;88;p6"/>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89" name="Google Shape;89;p6"/>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grpSp>
        <p:nvGrpSpPr>
          <p:cNvPr id="90" name="Google Shape;90;p6"/>
          <p:cNvGrpSpPr/>
          <p:nvPr/>
        </p:nvGrpSpPr>
        <p:grpSpPr>
          <a:xfrm>
            <a:off x="9262456" y="5963632"/>
            <a:ext cx="2937107" cy="894393"/>
            <a:chOff x="5575242" y="4472723"/>
            <a:chExt cx="2202830" cy="670795"/>
          </a:xfrm>
        </p:grpSpPr>
        <p:sp>
          <p:nvSpPr>
            <p:cNvPr id="91" name="Google Shape;91;p6"/>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2" name="Google Shape;92;p6"/>
            <p:cNvGrpSpPr/>
            <p:nvPr/>
          </p:nvGrpSpPr>
          <p:grpSpPr>
            <a:xfrm flipH="1">
              <a:off x="5734850" y="4472723"/>
              <a:ext cx="2040837" cy="670795"/>
              <a:chOff x="1297954" y="330075"/>
              <a:chExt cx="5169293" cy="1699506"/>
            </a:xfrm>
          </p:grpSpPr>
          <p:sp>
            <p:nvSpPr>
              <p:cNvPr id="93" name="Google Shape;93;p6"/>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6"/>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5" name="Google Shape;95;p6"/>
            <p:cNvGrpSpPr/>
            <p:nvPr/>
          </p:nvGrpSpPr>
          <p:grpSpPr>
            <a:xfrm flipH="1">
              <a:off x="5578209" y="4646738"/>
              <a:ext cx="2199863" cy="304563"/>
              <a:chOff x="-5827153" y="330075"/>
              <a:chExt cx="12276019" cy="1699569"/>
            </a:xfrm>
          </p:grpSpPr>
          <p:sp>
            <p:nvSpPr>
              <p:cNvPr id="96" name="Google Shape;96;p6"/>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6"/>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98" name="Google Shape;98;p6"/>
          <p:cNvSpPr txBox="1">
            <a:spLocks noGrp="1"/>
          </p:cNvSpPr>
          <p:nvPr>
            <p:ph type="title"/>
          </p:nvPr>
        </p:nvSpPr>
        <p:spPr>
          <a:xfrm>
            <a:off x="1085700" y="523433"/>
            <a:ext cx="7011200" cy="10216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1085700" y="2050651"/>
            <a:ext cx="4504400" cy="3632400"/>
          </a:xfrm>
          <a:prstGeom prst="rect">
            <a:avLst/>
          </a:prstGeom>
        </p:spPr>
        <p:txBody>
          <a:bodyPr spcFirstLastPara="1" wrap="square" lIns="91425" tIns="91425" rIns="91425" bIns="91425" anchor="t" anchorCtr="0">
            <a:noAutofit/>
          </a:bodyPr>
          <a:lstStyle>
            <a:lvl1pPr marL="609585" lvl="0" indent="-474121">
              <a:spcBef>
                <a:spcPts val="800"/>
              </a:spcBef>
              <a:spcAft>
                <a:spcPts val="0"/>
              </a:spcAft>
              <a:buSzPts val="2000"/>
              <a:buChar char="▰"/>
              <a:defRPr sz="2667"/>
            </a:lvl1pPr>
            <a:lvl2pPr marL="1219170" lvl="1" indent="-474121">
              <a:spcBef>
                <a:spcPts val="1333"/>
              </a:spcBef>
              <a:spcAft>
                <a:spcPts val="0"/>
              </a:spcAft>
              <a:buSzPts val="2000"/>
              <a:buChar char="▻"/>
              <a:defRPr sz="2667"/>
            </a:lvl2pPr>
            <a:lvl3pPr marL="1828754" lvl="2" indent="-474121">
              <a:spcBef>
                <a:spcPts val="1333"/>
              </a:spcBef>
              <a:spcAft>
                <a:spcPts val="0"/>
              </a:spcAft>
              <a:buSzPts val="2000"/>
              <a:buChar char="▻"/>
              <a:defRPr sz="2667"/>
            </a:lvl3pPr>
            <a:lvl4pPr marL="2438339" lvl="3" indent="-474121">
              <a:spcBef>
                <a:spcPts val="1333"/>
              </a:spcBef>
              <a:spcAft>
                <a:spcPts val="0"/>
              </a:spcAft>
              <a:buSzPts val="2000"/>
              <a:buChar char="▻"/>
              <a:defRPr sz="2667"/>
            </a:lvl4pPr>
            <a:lvl5pPr marL="3047924" lvl="4" indent="-474121">
              <a:spcBef>
                <a:spcPts val="1333"/>
              </a:spcBef>
              <a:spcAft>
                <a:spcPts val="0"/>
              </a:spcAft>
              <a:buSzPts val="2000"/>
              <a:buChar char="▻"/>
              <a:defRPr sz="2667"/>
            </a:lvl5pPr>
            <a:lvl6pPr marL="3657509" lvl="5" indent="-474121">
              <a:spcBef>
                <a:spcPts val="1333"/>
              </a:spcBef>
              <a:spcAft>
                <a:spcPts val="0"/>
              </a:spcAft>
              <a:buSzPts val="2000"/>
              <a:buChar char="▻"/>
              <a:defRPr sz="2667"/>
            </a:lvl6pPr>
            <a:lvl7pPr marL="4267093" lvl="6" indent="-474121">
              <a:spcBef>
                <a:spcPts val="1333"/>
              </a:spcBef>
              <a:spcAft>
                <a:spcPts val="0"/>
              </a:spcAft>
              <a:buSzPts val="2000"/>
              <a:buChar char="▻"/>
              <a:defRPr sz="2667"/>
            </a:lvl7pPr>
            <a:lvl8pPr marL="4876678" lvl="7" indent="-474121">
              <a:spcBef>
                <a:spcPts val="1333"/>
              </a:spcBef>
              <a:spcAft>
                <a:spcPts val="0"/>
              </a:spcAft>
              <a:buSzPts val="2000"/>
              <a:buChar char="▻"/>
              <a:defRPr sz="2667"/>
            </a:lvl8pPr>
            <a:lvl9pPr marL="5486263" lvl="8" indent="-474121">
              <a:spcBef>
                <a:spcPts val="1333"/>
              </a:spcBef>
              <a:spcAft>
                <a:spcPts val="1333"/>
              </a:spcAft>
              <a:buSzPts val="2000"/>
              <a:buChar char="▻"/>
              <a:defRPr sz="2667"/>
            </a:lvl9pPr>
          </a:lstStyle>
          <a:p>
            <a:endParaRPr/>
          </a:p>
        </p:txBody>
      </p:sp>
      <p:sp>
        <p:nvSpPr>
          <p:cNvPr id="100" name="Google Shape;100;p6"/>
          <p:cNvSpPr txBox="1">
            <a:spLocks noGrp="1"/>
          </p:cNvSpPr>
          <p:nvPr>
            <p:ph type="body" idx="2"/>
          </p:nvPr>
        </p:nvSpPr>
        <p:spPr>
          <a:xfrm>
            <a:off x="5861497" y="2050651"/>
            <a:ext cx="4504400" cy="3632400"/>
          </a:xfrm>
          <a:prstGeom prst="rect">
            <a:avLst/>
          </a:prstGeom>
        </p:spPr>
        <p:txBody>
          <a:bodyPr spcFirstLastPara="1" wrap="square" lIns="91425" tIns="91425" rIns="91425" bIns="91425" anchor="t" anchorCtr="0">
            <a:noAutofit/>
          </a:bodyPr>
          <a:lstStyle>
            <a:lvl1pPr marL="609585" lvl="0" indent="-474121">
              <a:spcBef>
                <a:spcPts val="800"/>
              </a:spcBef>
              <a:spcAft>
                <a:spcPts val="0"/>
              </a:spcAft>
              <a:buSzPts val="2000"/>
              <a:buChar char="▰"/>
              <a:defRPr sz="2667"/>
            </a:lvl1pPr>
            <a:lvl2pPr marL="1219170" lvl="1" indent="-474121">
              <a:spcBef>
                <a:spcPts val="1333"/>
              </a:spcBef>
              <a:spcAft>
                <a:spcPts val="0"/>
              </a:spcAft>
              <a:buSzPts val="2000"/>
              <a:buChar char="▻"/>
              <a:defRPr sz="2667"/>
            </a:lvl2pPr>
            <a:lvl3pPr marL="1828754" lvl="2" indent="-474121">
              <a:spcBef>
                <a:spcPts val="1333"/>
              </a:spcBef>
              <a:spcAft>
                <a:spcPts val="0"/>
              </a:spcAft>
              <a:buSzPts val="2000"/>
              <a:buChar char="▻"/>
              <a:defRPr sz="2667"/>
            </a:lvl3pPr>
            <a:lvl4pPr marL="2438339" lvl="3" indent="-474121">
              <a:spcBef>
                <a:spcPts val="1333"/>
              </a:spcBef>
              <a:spcAft>
                <a:spcPts val="0"/>
              </a:spcAft>
              <a:buSzPts val="2000"/>
              <a:buChar char="▻"/>
              <a:defRPr sz="2667"/>
            </a:lvl4pPr>
            <a:lvl5pPr marL="3047924" lvl="4" indent="-474121">
              <a:spcBef>
                <a:spcPts val="1333"/>
              </a:spcBef>
              <a:spcAft>
                <a:spcPts val="0"/>
              </a:spcAft>
              <a:buSzPts val="2000"/>
              <a:buChar char="▻"/>
              <a:defRPr sz="2667"/>
            </a:lvl5pPr>
            <a:lvl6pPr marL="3657509" lvl="5" indent="-474121">
              <a:spcBef>
                <a:spcPts val="1333"/>
              </a:spcBef>
              <a:spcAft>
                <a:spcPts val="0"/>
              </a:spcAft>
              <a:buSzPts val="2000"/>
              <a:buChar char="▻"/>
              <a:defRPr sz="2667"/>
            </a:lvl6pPr>
            <a:lvl7pPr marL="4267093" lvl="6" indent="-474121">
              <a:spcBef>
                <a:spcPts val="1333"/>
              </a:spcBef>
              <a:spcAft>
                <a:spcPts val="0"/>
              </a:spcAft>
              <a:buSzPts val="2000"/>
              <a:buChar char="▻"/>
              <a:defRPr sz="2667"/>
            </a:lvl7pPr>
            <a:lvl8pPr marL="4876678" lvl="7" indent="-474121">
              <a:spcBef>
                <a:spcPts val="1333"/>
              </a:spcBef>
              <a:spcAft>
                <a:spcPts val="0"/>
              </a:spcAft>
              <a:buSzPts val="2000"/>
              <a:buChar char="▻"/>
              <a:defRPr sz="2667"/>
            </a:lvl8pPr>
            <a:lvl9pPr marL="5486263" lvl="8" indent="-474121">
              <a:spcBef>
                <a:spcPts val="1333"/>
              </a:spcBef>
              <a:spcAft>
                <a:spcPts val="1333"/>
              </a:spcAft>
              <a:buSzPts val="2000"/>
              <a:buChar char="▻"/>
              <a:defRPr sz="2667"/>
            </a:lvl9pPr>
          </a:lstStyle>
          <a:p>
            <a:endParaRPr/>
          </a:p>
        </p:txBody>
      </p:sp>
      <p:sp>
        <p:nvSpPr>
          <p:cNvPr id="101" name="Google Shape;101;p6"/>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34090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5C1339-BE0C-7A53-7E13-F3CD788F82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775DD1-C223-1000-31E0-32D83C0440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19E9D4-8088-05BF-7E1A-723482B510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9C2CA8-7230-47CD-B504-4FD8FC3F62CB}" type="datetimeFigureOut">
              <a:rPr lang="en-IN" smtClean="0"/>
              <a:t>05-03-2026</a:t>
            </a:fld>
            <a:endParaRPr lang="en-IN"/>
          </a:p>
        </p:txBody>
      </p:sp>
      <p:sp>
        <p:nvSpPr>
          <p:cNvPr id="5" name="Footer Placeholder 4">
            <a:extLst>
              <a:ext uri="{FF2B5EF4-FFF2-40B4-BE49-F238E27FC236}">
                <a16:creationId xmlns:a16="http://schemas.microsoft.com/office/drawing/2014/main" id="{E7680E8B-D380-DBA4-BB93-DEEA1E427A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D5D05AA-F2B3-36AB-4ACC-83495434FF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7027CF-6B09-4920-B762-71A952D1538C}" type="slidenum">
              <a:rPr lang="en-IN" smtClean="0"/>
              <a:t>‹#›</a:t>
            </a:fld>
            <a:endParaRPr lang="en-IN"/>
          </a:p>
        </p:txBody>
      </p:sp>
    </p:spTree>
    <p:extLst>
      <p:ext uri="{BB962C8B-B14F-4D97-AF65-F5344CB8AC3E}">
        <p14:creationId xmlns:p14="http://schemas.microsoft.com/office/powerpoint/2010/main" val="1126658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110359" y="1466192"/>
            <a:ext cx="9821917" cy="3957145"/>
          </a:xfrm>
          <a:prstGeom prst="rect">
            <a:avLst/>
          </a:prstGeom>
        </p:spPr>
        <p:txBody>
          <a:bodyPr spcFirstLastPara="1" vert="horz" wrap="square" lIns="121900" tIns="121900" rIns="121900" bIns="121900" rtlCol="0" anchor="ctr" anchorCtr="0">
            <a:noAutofit/>
          </a:bodyPr>
          <a:lstStyle/>
          <a:p>
            <a:pPr algn="ctr"/>
            <a:r>
              <a:rPr lang="en-US" sz="4800" b="1" dirty="0">
                <a:latin typeface="Times New Roman" panose="02020603050405020304" pitchFamily="18" charset="0"/>
                <a:cs typeface="Times New Roman" panose="02020603050405020304" pitchFamily="18" charset="0"/>
              </a:rPr>
              <a:t>CREDIT CARD FRAUD DETECTION USING MACHINE LEARNING AND FLASK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US" b="1" dirty="0">
                <a:latin typeface="Times New Roman" pitchFamily="18" charset="0"/>
                <a:cs typeface="Times New Roman" pitchFamily="18" charset="0"/>
              </a:rPr>
              <a:t>AIM OF PROJECT</a:t>
            </a:r>
            <a:endParaRPr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2</a:t>
            </a:fld>
            <a:endParaRPr dirty="0"/>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
        <p:nvSpPr>
          <p:cNvPr id="21" name="TextBox 20">
            <a:extLst>
              <a:ext uri="{FF2B5EF4-FFF2-40B4-BE49-F238E27FC236}">
                <a16:creationId xmlns:a16="http://schemas.microsoft.com/office/drawing/2014/main" id="{54B8C193-6454-8671-5910-3B5B0222FF5D}"/>
              </a:ext>
            </a:extLst>
          </p:cNvPr>
          <p:cNvSpPr txBox="1"/>
          <p:nvPr/>
        </p:nvSpPr>
        <p:spPr>
          <a:xfrm>
            <a:off x="941080" y="1810983"/>
            <a:ext cx="8727575" cy="3000821"/>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Main Objective is to detect online fraud detection when using online financial transaction.</a:t>
            </a:r>
          </a:p>
          <a:p>
            <a:pPr algn="just">
              <a:lnSpc>
                <a:spcPct val="150000"/>
              </a:lnSpc>
            </a:pPr>
            <a:r>
              <a:rPr lang="en-IN" dirty="0">
                <a:latin typeface="Times New Roman" panose="02020603050405020304" pitchFamily="18" charset="0"/>
                <a:ea typeface="Calibri" panose="020F0502020204030204" pitchFamily="34" charset="0"/>
                <a:cs typeface="Times New Roman" panose="02020603050405020304" pitchFamily="18" charset="0"/>
              </a:rPr>
              <a:t>Currently, the risk of network information insecurity is increasing rapidly in number and level of danger. The methods mostly used by hackers today is to attack end-to end technology and exploit human vulnerabilities.</a:t>
            </a:r>
          </a:p>
          <a:p>
            <a:pPr algn="just">
              <a:lnSpc>
                <a:spcPct val="150000"/>
              </a:lnSpc>
            </a:pPr>
            <a:r>
              <a:rPr lang="en-US" dirty="0">
                <a:latin typeface="Times New Roman" panose="02020603050405020304" pitchFamily="18" charset="0"/>
                <a:cs typeface="Times New Roman" panose="02020603050405020304" pitchFamily="18" charset="0"/>
              </a:rPr>
              <a:t>And the model is implemented in the web application to predict the values using flask framework work.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IN" b="1" dirty="0">
                <a:latin typeface="Times New Roman" panose="02020603050405020304" pitchFamily="18" charset="0"/>
                <a:cs typeface="Times New Roman" panose="02020603050405020304" pitchFamily="18" charset="0"/>
              </a:rPr>
              <a:t>ABSTRACT</a:t>
            </a:r>
            <a:endParaRPr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3</a:t>
            </a:fld>
            <a:endParaRPr dirty="0"/>
          </a:p>
        </p:txBody>
      </p:sp>
      <p:sp>
        <p:nvSpPr>
          <p:cNvPr id="193" name="Google Shape;193;p12"/>
          <p:cNvSpPr txBox="1">
            <a:spLocks noGrp="1"/>
          </p:cNvSpPr>
          <p:nvPr>
            <p:ph type="body" idx="1"/>
          </p:nvPr>
        </p:nvSpPr>
        <p:spPr>
          <a:xfrm>
            <a:off x="516414" y="1737360"/>
            <a:ext cx="10990643" cy="4922663"/>
          </a:xfrm>
          <a:prstGeom prst="rect">
            <a:avLst/>
          </a:prstGeom>
        </p:spPr>
        <p:txBody>
          <a:bodyPr spcFirstLastPara="1" vert="horz" wrap="square" lIns="121900" tIns="121900" rIns="121900" bIns="121900" rtlCol="0" anchor="t" anchorCtr="0">
            <a:noAutofit/>
          </a:bodyPr>
          <a:lstStyle/>
          <a:p>
            <a:pPr algn="just">
              <a:lnSpc>
                <a:spcPct val="15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Applications for machine learning algorithms are beginning to dominate the world of online financing.</a:t>
            </a:r>
          </a:p>
          <a:p>
            <a:pPr algn="just">
              <a:lnSpc>
                <a:spcPct val="15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Using data from a credit card issuer, a Random Forest classifier, </a:t>
            </a:r>
            <a:r>
              <a:rPr lang="en-IN" sz="1800" dirty="0" err="1">
                <a:latin typeface="Times New Roman" panose="02020603050405020304" pitchFamily="18" charset="0"/>
                <a:ea typeface="Calibri" panose="020F0502020204030204" pitchFamily="34" charset="0"/>
                <a:cs typeface="Times New Roman" panose="02020603050405020304" pitchFamily="18" charset="0"/>
              </a:rPr>
              <a:t>AdaBoost</a:t>
            </a:r>
            <a:r>
              <a:rPr lang="en-IN" sz="1800" dirty="0">
                <a:latin typeface="Times New Roman" panose="02020603050405020304" pitchFamily="18" charset="0"/>
                <a:ea typeface="Calibri" panose="020F0502020204030204" pitchFamily="34" charset="0"/>
                <a:cs typeface="Times New Roman" panose="02020603050405020304" pitchFamily="18" charset="0"/>
              </a:rPr>
              <a:t> Classifier, </a:t>
            </a:r>
            <a:r>
              <a:rPr lang="en-IN" sz="1800" dirty="0" err="1">
                <a:latin typeface="Times New Roman" panose="02020603050405020304" pitchFamily="18" charset="0"/>
                <a:ea typeface="Calibri" panose="020F0502020204030204" pitchFamily="34" charset="0"/>
                <a:cs typeface="Times New Roman" panose="02020603050405020304" pitchFamily="18" charset="0"/>
              </a:rPr>
              <a:t>CatBoost</a:t>
            </a:r>
            <a:r>
              <a:rPr lang="en-IN" sz="1800" dirty="0">
                <a:latin typeface="Times New Roman" panose="02020603050405020304" pitchFamily="18" charset="0"/>
                <a:ea typeface="Calibri" panose="020F0502020204030204" pitchFamily="34" charset="0"/>
                <a:cs typeface="Times New Roman" panose="02020603050405020304" pitchFamily="18" charset="0"/>
              </a:rPr>
              <a:t> classifier, </a:t>
            </a:r>
            <a:r>
              <a:rPr lang="en-IN" sz="1800" dirty="0" err="1">
                <a:latin typeface="Times New Roman" panose="02020603050405020304" pitchFamily="18" charset="0"/>
                <a:ea typeface="Calibri" panose="020F0502020204030204" pitchFamily="34" charset="0"/>
                <a:cs typeface="Times New Roman" panose="02020603050405020304" pitchFamily="18" charset="0"/>
              </a:rPr>
              <a:t>XGBoost</a:t>
            </a:r>
            <a:r>
              <a:rPr lang="en-IN" sz="1800" dirty="0">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latin typeface="Times New Roman" panose="02020603050405020304" pitchFamily="18" charset="0"/>
                <a:ea typeface="Calibri" panose="020F0502020204030204" pitchFamily="34" charset="0"/>
                <a:cs typeface="Times New Roman" panose="02020603050405020304" pitchFamily="18" charset="0"/>
              </a:rPr>
              <a:t>LightBGM</a:t>
            </a:r>
            <a:r>
              <a:rPr lang="en-IN" sz="1800" dirty="0">
                <a:latin typeface="Times New Roman" panose="02020603050405020304" pitchFamily="18" charset="0"/>
                <a:ea typeface="Calibri" panose="020F0502020204030204" pitchFamily="34" charset="0"/>
                <a:cs typeface="Times New Roman" panose="02020603050405020304" pitchFamily="18" charset="0"/>
              </a:rPr>
              <a:t> based fraud detection system was trained on a large sample of labelled credit card account transactions and tested on a holdout data set.</a:t>
            </a:r>
          </a:p>
          <a:p>
            <a:pPr algn="just">
              <a:lnSpc>
                <a:spcPct val="15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Our solution improves data usability, classification accuracy and resulting costs of analysing massive data sets used in personalizing customer experiences in online transaction.</a:t>
            </a:r>
          </a:p>
          <a:p>
            <a:pPr>
              <a:lnSpc>
                <a:spcPct val="150000"/>
              </a:lnSpc>
            </a:pPr>
            <a:endParaRPr lang="en-IN" sz="1800" dirty="0"/>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Tree>
    <p:extLst>
      <p:ext uri="{BB962C8B-B14F-4D97-AF65-F5344CB8AC3E}">
        <p14:creationId xmlns:p14="http://schemas.microsoft.com/office/powerpoint/2010/main" val="509157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US" b="1" dirty="0">
                <a:latin typeface="Times New Roman" pitchFamily="18" charset="0"/>
                <a:cs typeface="Times New Roman" pitchFamily="18" charset="0"/>
              </a:rPr>
              <a:t>INTRODUCTION	</a:t>
            </a:r>
            <a:endParaRPr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4</a:t>
            </a:fld>
            <a:endParaRPr dirty="0"/>
          </a:p>
        </p:txBody>
      </p:sp>
      <p:sp>
        <p:nvSpPr>
          <p:cNvPr id="193" name="Google Shape;193;p12"/>
          <p:cNvSpPr txBox="1">
            <a:spLocks noGrp="1"/>
          </p:cNvSpPr>
          <p:nvPr>
            <p:ph type="body" idx="1"/>
          </p:nvPr>
        </p:nvSpPr>
        <p:spPr>
          <a:xfrm>
            <a:off x="230588" y="1603185"/>
            <a:ext cx="10977731" cy="4821470"/>
          </a:xfrm>
          <a:prstGeom prst="rect">
            <a:avLst/>
          </a:prstGeom>
        </p:spPr>
        <p:txBody>
          <a:bodyPr spcFirstLastPara="1" vert="horz" wrap="square" lIns="121900" tIns="121900" rIns="121900" bIns="121900" rtlCol="0" anchor="t" anchorCtr="0">
            <a:noAutofit/>
          </a:bodyPr>
          <a:lstStyle/>
          <a:p>
            <a:pPr marL="135464" indent="0" algn="just">
              <a:lnSpc>
                <a:spcPct val="150000"/>
              </a:lnSpc>
              <a:buNone/>
            </a:pPr>
            <a:r>
              <a:rPr lang="en-US" sz="1800" dirty="0">
                <a:latin typeface="Times New Roman" pitchFamily="18" charset="0"/>
                <a:cs typeface="Times New Roman" pitchFamily="18" charset="0"/>
              </a:rPr>
              <a:t>In recent years there has been an increase in financial fraud due to the growth of technologies and paradigms such as the e-commerce and the financial technology (</a:t>
            </a:r>
            <a:r>
              <a:rPr lang="en-US" sz="1800" dirty="0" err="1">
                <a:latin typeface="Times New Roman" pitchFamily="18" charset="0"/>
                <a:cs typeface="Times New Roman" pitchFamily="18" charset="0"/>
              </a:rPr>
              <a:t>FinTech</a:t>
            </a:r>
            <a:r>
              <a:rPr lang="en-US" sz="1800" dirty="0">
                <a:latin typeface="Times New Roman" pitchFamily="18" charset="0"/>
                <a:cs typeface="Times New Roman" pitchFamily="18" charset="0"/>
              </a:rPr>
              <a:t>) sectors. The evolution of these technologies has sparked an increase in the number of credit card transactions. As a result, there has been a rapid spike in the number financial fraud cases that involved credit cards. Credit card Fraud occurs when an unauthorized or undesirable use of a credit card is made by a criminal. This happens when the credit card authentication details are stolen using different types of fraudulent techniques such as intercepting an e-commerce transaction or cloning an existing card. Moreover, the impact of credit card fraud affects institutions such as card issuers, merchants, and small businesses.</a:t>
            </a:r>
          </a:p>
          <a:p>
            <a:pPr marL="135464" indent="0" algn="just">
              <a:lnSpc>
                <a:spcPct val="150000"/>
              </a:lnSpc>
              <a:buNone/>
            </a:pPr>
            <a:r>
              <a:rPr lang="en-US" sz="1800" dirty="0">
                <a:latin typeface="Times New Roman" pitchFamily="18" charset="0"/>
                <a:cs typeface="Times New Roman" pitchFamily="18" charset="0"/>
              </a:rPr>
              <a:t>These ML methods were evaluated individually in terms of their effectiveness and classification quality. Additionally, the Adaptive Boosting (</a:t>
            </a:r>
            <a:r>
              <a:rPr lang="en-US" sz="1800" dirty="0" err="1">
                <a:latin typeface="Times New Roman" pitchFamily="18" charset="0"/>
                <a:cs typeface="Times New Roman" pitchFamily="18" charset="0"/>
              </a:rPr>
              <a:t>AdaBoost</a:t>
            </a:r>
            <a:r>
              <a:rPr lang="en-US" sz="1800" dirty="0">
                <a:latin typeface="Times New Roman" pitchFamily="18" charset="0"/>
                <a:cs typeface="Times New Roman" pitchFamily="18" charset="0"/>
              </a:rPr>
              <a:t>) algorithm was paired with each methods to increase their robustness. The main contribution of this project is a comparative analysis of several ML methods on a publicly available dataset that contains real word cards transactions.</a:t>
            </a:r>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Tree>
    <p:extLst>
      <p:ext uri="{BB962C8B-B14F-4D97-AF65-F5344CB8AC3E}">
        <p14:creationId xmlns:p14="http://schemas.microsoft.com/office/powerpoint/2010/main" val="244704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US" b="1" dirty="0">
                <a:latin typeface="Times New Roman" pitchFamily="18" charset="0"/>
                <a:cs typeface="Times New Roman" pitchFamily="18" charset="0"/>
              </a:rPr>
              <a:t>EXISTING SYSTEM</a:t>
            </a:r>
            <a:endParaRPr lang="en-US"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5</a:t>
            </a:fld>
            <a:endParaRPr dirty="0"/>
          </a:p>
        </p:txBody>
      </p:sp>
      <p:sp>
        <p:nvSpPr>
          <p:cNvPr id="193" name="Google Shape;193;p12"/>
          <p:cNvSpPr txBox="1">
            <a:spLocks noGrp="1"/>
          </p:cNvSpPr>
          <p:nvPr>
            <p:ph type="body" idx="1"/>
          </p:nvPr>
        </p:nvSpPr>
        <p:spPr>
          <a:xfrm>
            <a:off x="0" y="1739757"/>
            <a:ext cx="12014522" cy="4360101"/>
          </a:xfrm>
          <a:prstGeom prst="rect">
            <a:avLst/>
          </a:prstGeom>
        </p:spPr>
        <p:txBody>
          <a:bodyPr spcFirstLastPara="1" vert="horz" wrap="square" lIns="121900" tIns="121900" rIns="121900" bIns="121900" rtlCol="0" anchor="t" anchorCtr="0">
            <a:noAutofit/>
          </a:bodyPr>
          <a:lstStyle/>
          <a:p>
            <a:pPr algn="just">
              <a:lnSpc>
                <a:spcPct val="15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135464"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
        <p:nvSpPr>
          <p:cNvPr id="22" name="TextBox 21">
            <a:extLst>
              <a:ext uri="{FF2B5EF4-FFF2-40B4-BE49-F238E27FC236}">
                <a16:creationId xmlns:a16="http://schemas.microsoft.com/office/drawing/2014/main" id="{580BCAEC-243F-7CC0-C705-46FB11E868CF}"/>
              </a:ext>
            </a:extLst>
          </p:cNvPr>
          <p:cNvSpPr txBox="1"/>
          <p:nvPr/>
        </p:nvSpPr>
        <p:spPr>
          <a:xfrm>
            <a:off x="803633" y="1899299"/>
            <a:ext cx="9014924" cy="3000821"/>
          </a:xfrm>
          <a:prstGeom prst="rect">
            <a:avLst/>
          </a:prstGeom>
          <a:noFill/>
        </p:spPr>
        <p:txBody>
          <a:bodyPr wrap="square">
            <a:spAutoFit/>
          </a:bodyPr>
          <a:lstStyle/>
          <a:p>
            <a:pPr marL="285750" indent="-285750" algn="just">
              <a:lnSpc>
                <a:spcPct val="150000"/>
              </a:lnSpc>
              <a:buFont typeface="Arial" pitchFamily="34" charset="0"/>
              <a:buChar char="•"/>
            </a:pPr>
            <a:r>
              <a:rPr lang="en-US" dirty="0">
                <a:latin typeface="Times New Roman" panose="02020603050405020304" pitchFamily="18" charset="0"/>
                <a:cs typeface="Times New Roman" panose="02020603050405020304" pitchFamily="18" charset="0"/>
              </a:rPr>
              <a:t>The existing methods focus on networks or features information separately, which does not utilize both information. </a:t>
            </a:r>
          </a:p>
          <a:p>
            <a:pPr marL="285750" indent="-285750" algn="just">
              <a:lnSpc>
                <a:spcPct val="150000"/>
              </a:lnSpc>
              <a:buFont typeface="Arial"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The researchers that use pattern recognition of these data mining methods help in predicting models based on the credit card fraud domain.</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buFont typeface="Arial"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The existing system used different algorithm to predict the credit card fraud, but accuracy is low comparison of our model.</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endParaRPr lang="en-IN" dirty="0"/>
          </a:p>
        </p:txBody>
      </p:sp>
    </p:spTree>
    <p:extLst>
      <p:ext uri="{BB962C8B-B14F-4D97-AF65-F5344CB8AC3E}">
        <p14:creationId xmlns:p14="http://schemas.microsoft.com/office/powerpoint/2010/main" val="1718527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151" y="523433"/>
            <a:ext cx="7672749" cy="1021600"/>
          </a:xfrm>
        </p:spPr>
        <p:txBody>
          <a:bodyPr/>
          <a:lstStyle/>
          <a:p>
            <a:r>
              <a:rPr lang="en-US" b="1" dirty="0">
                <a:latin typeface="Times New Roman" panose="02020603050405020304" pitchFamily="18" charset="0"/>
                <a:cs typeface="Times New Roman" panose="02020603050405020304" pitchFamily="18" charset="0"/>
              </a:rPr>
              <a:t>DISADVANTAGE</a:t>
            </a:r>
            <a:endParaRPr lang="en-IN" b="1" dirty="0"/>
          </a:p>
        </p:txBody>
      </p:sp>
      <p:sp>
        <p:nvSpPr>
          <p:cNvPr id="3" name="Text Placeholder 2"/>
          <p:cNvSpPr>
            <a:spLocks noGrp="1"/>
          </p:cNvSpPr>
          <p:nvPr>
            <p:ph type="body" idx="1"/>
          </p:nvPr>
        </p:nvSpPr>
        <p:spPr>
          <a:xfrm>
            <a:off x="424151" y="1835875"/>
            <a:ext cx="11076072" cy="3890368"/>
          </a:xfrm>
        </p:spPr>
        <p:txBody>
          <a:bodyPr/>
          <a:lstStyle/>
          <a:p>
            <a:pPr algn="just">
              <a:lnSpc>
                <a:spcPct val="150000"/>
              </a:lnSpc>
            </a:pPr>
            <a:r>
              <a:rPr lang="en-US" sz="1800" dirty="0">
                <a:latin typeface="Times New Roman" panose="02020603050405020304" pitchFamily="18" charset="0"/>
                <a:cs typeface="Times New Roman" panose="02020603050405020304" pitchFamily="18" charset="0"/>
              </a:rPr>
              <a:t>Its cannot give a accuracy value.</a:t>
            </a:r>
          </a:p>
          <a:p>
            <a:pPr algn="just">
              <a:lnSpc>
                <a:spcPct val="150000"/>
              </a:lnSpc>
            </a:pPr>
            <a:r>
              <a:rPr lang="en-US" sz="1800" dirty="0">
                <a:latin typeface="Times New Roman" panose="02020603050405020304" pitchFamily="18" charset="0"/>
                <a:cs typeface="Times New Roman" panose="02020603050405020304" pitchFamily="18" charset="0"/>
              </a:rPr>
              <a:t>Less storage</a:t>
            </a:r>
          </a:p>
          <a:p>
            <a:pPr algn="just">
              <a:lnSpc>
                <a:spcPct val="150000"/>
              </a:lnSpc>
            </a:pPr>
            <a:r>
              <a:rPr lang="en-US" sz="1800" dirty="0">
                <a:latin typeface="Times New Roman" panose="02020603050405020304" pitchFamily="18" charset="0"/>
                <a:cs typeface="Times New Roman" panose="02020603050405020304" pitchFamily="18" charset="0"/>
              </a:rPr>
              <a:t>Less performance</a:t>
            </a:r>
            <a:endParaRPr lang="en-IN" sz="1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6</a:t>
            </a:fld>
            <a:endParaRPr lang="en"/>
          </a:p>
        </p:txBody>
      </p:sp>
    </p:spTree>
    <p:extLst>
      <p:ext uri="{BB962C8B-B14F-4D97-AF65-F5344CB8AC3E}">
        <p14:creationId xmlns:p14="http://schemas.microsoft.com/office/powerpoint/2010/main" val="3728649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716" y="523433"/>
            <a:ext cx="7869184" cy="1021600"/>
          </a:xfrm>
        </p:spPr>
        <p:txBody>
          <a:bodyPr/>
          <a:lstStyle/>
          <a:p>
            <a:r>
              <a:rPr lang="en-IN" dirty="0"/>
              <a:t>   </a:t>
            </a:r>
            <a:r>
              <a:rPr lang="en-IN" b="1" dirty="0">
                <a:latin typeface="Times New Roman" panose="02020603050405020304" pitchFamily="18" charset="0"/>
                <a:cs typeface="Times New Roman" pitchFamily="18" charset="0"/>
              </a:rPr>
              <a:t>PROPOSED  SYSTEM</a:t>
            </a:r>
          </a:p>
        </p:txBody>
      </p:sp>
      <p:sp>
        <p:nvSpPr>
          <p:cNvPr id="3" name="Text Placeholder 2"/>
          <p:cNvSpPr>
            <a:spLocks noGrp="1"/>
          </p:cNvSpPr>
          <p:nvPr>
            <p:ph type="body" idx="1"/>
          </p:nvPr>
        </p:nvSpPr>
        <p:spPr>
          <a:xfrm>
            <a:off x="227716" y="1771030"/>
            <a:ext cx="11397465" cy="4269349"/>
          </a:xfrm>
        </p:spPr>
        <p:txBody>
          <a:bodyPr/>
          <a:lstStyle/>
          <a:p>
            <a:pPr lvl="0"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Financial fraud, such as money laundering, is known to be a serious process of crime that makes illegitimately obtained funds go to terrorism or other criminal activity.</a:t>
            </a:r>
          </a:p>
          <a:p>
            <a:pPr lvl="0"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transaction network reveals the interaction between entities, and thus anomaly detection in the fraud activity.</a:t>
            </a:r>
          </a:p>
          <a:p>
            <a:pPr lvl="0" algn="just">
              <a:lnSpc>
                <a:spcPct val="150000"/>
              </a:lnSpc>
              <a:buFont typeface="Wingdings" panose="05000000000000000000" pitchFamily="2" charset="2"/>
              <a:buChar char="Ø"/>
            </a:pPr>
            <a:r>
              <a:rPr lang="en-US" sz="1800" dirty="0">
                <a:latin typeface="Times New Roman" panose="02020603050405020304" pitchFamily="18" charset="0"/>
                <a:ea typeface="Calibri" panose="020F0502020204030204" pitchFamily="34" charset="0"/>
                <a:cs typeface="Times New Roman" panose="02020603050405020304" pitchFamily="18" charset="0"/>
              </a:rPr>
              <a:t>Our proposed system involves Random Forest classifier, </a:t>
            </a:r>
            <a:r>
              <a:rPr lang="en-US" sz="1800" dirty="0" err="1">
                <a:latin typeface="Times New Roman" panose="02020603050405020304" pitchFamily="18" charset="0"/>
                <a:ea typeface="Calibri" panose="020F0502020204030204" pitchFamily="34" charset="0"/>
                <a:cs typeface="Times New Roman" panose="02020603050405020304" pitchFamily="18" charset="0"/>
              </a:rPr>
              <a:t>AdaBoost</a:t>
            </a:r>
            <a:r>
              <a:rPr lang="en-US" sz="1800" dirty="0">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latin typeface="Times New Roman" panose="02020603050405020304" pitchFamily="18" charset="0"/>
                <a:ea typeface="Calibri" panose="020F0502020204030204" pitchFamily="34" charset="0"/>
                <a:cs typeface="Times New Roman" panose="02020603050405020304" pitchFamily="18" charset="0"/>
              </a:rPr>
              <a:t>classifer</a:t>
            </a:r>
            <a:r>
              <a:rPr lang="en-US" sz="1800" dirty="0">
                <a:latin typeface="Times New Roman" panose="02020603050405020304" pitchFamily="18" charset="0"/>
                <a:ea typeface="Calibri" panose="020F0502020204030204" pitchFamily="34" charset="0"/>
                <a:cs typeface="Times New Roman" panose="02020603050405020304" pitchFamily="18" charset="0"/>
              </a:rPr>
              <a:t>, cat Boost classifier, </a:t>
            </a:r>
            <a:r>
              <a:rPr lang="en-US" sz="18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800" dirty="0">
                <a:latin typeface="Times New Roman" panose="02020603050405020304" pitchFamily="18" charset="0"/>
                <a:ea typeface="Calibri" panose="020F0502020204030204" pitchFamily="34" charset="0"/>
                <a:cs typeface="Times New Roman" panose="02020603050405020304" pitchFamily="18" charset="0"/>
              </a:rPr>
              <a:t>, Light GBM in Deep Learning concept used to train the dataset.</a:t>
            </a:r>
          </a:p>
          <a:p>
            <a:pPr lvl="0" algn="just">
              <a:lnSpc>
                <a:spcPct val="150000"/>
              </a:lnSpc>
              <a:buFont typeface="Wingdings" panose="05000000000000000000" pitchFamily="2" charset="2"/>
              <a:buChar char="Ø"/>
            </a:pPr>
            <a:r>
              <a:rPr lang="en-US" sz="1800" dirty="0">
                <a:latin typeface="Times New Roman" panose="02020603050405020304" pitchFamily="18" charset="0"/>
                <a:ea typeface="Calibri" panose="020F0502020204030204" pitchFamily="34" charset="0"/>
                <a:cs typeface="Times New Roman" panose="02020603050405020304" pitchFamily="18" charset="0"/>
              </a:rPr>
              <a:t>By using these classifier we are predicting the  accuracy and confusion matrix for the model. </a:t>
            </a:r>
          </a:p>
          <a:p>
            <a:pPr lvl="0" algn="just">
              <a:lnSpc>
                <a:spcPct val="150000"/>
              </a:lnSpc>
              <a:buFont typeface="Wingdings" panose="05000000000000000000" pitchFamily="2" charset="2"/>
              <a:buChar char="Ø"/>
            </a:pPr>
            <a:r>
              <a:rPr lang="en-US" sz="1800" dirty="0">
                <a:latin typeface="Times New Roman" panose="02020603050405020304" pitchFamily="18" charset="0"/>
                <a:ea typeface="Calibri" panose="020F0502020204030204" pitchFamily="34" charset="0"/>
                <a:cs typeface="Times New Roman" panose="02020603050405020304" pitchFamily="18" charset="0"/>
              </a:rPr>
              <a:t>For user interface we have been implemented the concept in the web application to predict the each and every values in CSV file has predicted in the web framework by using the flask framework . </a:t>
            </a: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7</a:t>
            </a:fld>
            <a:endParaRPr lang="en"/>
          </a:p>
        </p:txBody>
      </p:sp>
    </p:spTree>
    <p:extLst>
      <p:ext uri="{BB962C8B-B14F-4D97-AF65-F5344CB8AC3E}">
        <p14:creationId xmlns:p14="http://schemas.microsoft.com/office/powerpoint/2010/main" val="1755141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455" y="523433"/>
            <a:ext cx="7730445" cy="1021600"/>
          </a:xfrm>
        </p:spPr>
        <p:txBody>
          <a:bodyPr/>
          <a:lstStyle/>
          <a:p>
            <a:r>
              <a:rPr lang="en-IN" b="1" dirty="0">
                <a:latin typeface="Times New Roman" pitchFamily="18" charset="0"/>
                <a:cs typeface="Times New Roman" pitchFamily="18" charset="0"/>
              </a:rPr>
              <a:t>ADVANTAGES</a:t>
            </a:r>
          </a:p>
        </p:txBody>
      </p:sp>
      <p:sp>
        <p:nvSpPr>
          <p:cNvPr id="3" name="Text Placeholder 2"/>
          <p:cNvSpPr>
            <a:spLocks noGrp="1"/>
          </p:cNvSpPr>
          <p:nvPr>
            <p:ph type="body" idx="1"/>
          </p:nvPr>
        </p:nvSpPr>
        <p:spPr>
          <a:xfrm>
            <a:off x="366455" y="1855778"/>
            <a:ext cx="11214624" cy="4186415"/>
          </a:xfrm>
        </p:spPr>
        <p:txBody>
          <a:bodyPr/>
          <a:lstStyle/>
          <a:p>
            <a:pPr>
              <a:lnSpc>
                <a:spcPct val="150000"/>
              </a:lnSpc>
            </a:pPr>
            <a:r>
              <a:rPr lang="en-US" sz="1800" dirty="0">
                <a:latin typeface="Times New Roman" panose="02020603050405020304" pitchFamily="18" charset="0"/>
                <a:cs typeface="Times New Roman" panose="02020603050405020304" pitchFamily="18" charset="0"/>
              </a:rPr>
              <a:t>It give a more  accuracy </a:t>
            </a:r>
          </a:p>
          <a:p>
            <a:pPr>
              <a:lnSpc>
                <a:spcPct val="150000"/>
              </a:lnSpc>
            </a:pPr>
            <a:r>
              <a:rPr lang="en-US" sz="1800" dirty="0">
                <a:latin typeface="Times New Roman" panose="02020603050405020304" pitchFamily="18" charset="0"/>
                <a:cs typeface="Times New Roman" panose="02020603050405020304" pitchFamily="18" charset="0"/>
              </a:rPr>
              <a:t>Good performance</a:t>
            </a:r>
          </a:p>
          <a:p>
            <a:pPr>
              <a:lnSpc>
                <a:spcPct val="150000"/>
              </a:lnSpc>
            </a:pPr>
            <a:r>
              <a:rPr lang="en-US" sz="1800" dirty="0">
                <a:latin typeface="Times New Roman" panose="02020603050405020304" pitchFamily="18" charset="0"/>
                <a:cs typeface="Times New Roman" panose="02020603050405020304" pitchFamily="18" charset="0"/>
              </a:rPr>
              <a:t>More efficient</a:t>
            </a:r>
            <a:endParaRPr lang="en-IN" sz="1800" dirty="0"/>
          </a:p>
        </p:txBody>
      </p:sp>
      <p:sp>
        <p:nvSpPr>
          <p:cNvPr id="5" name="Slide Number Placeholder 4"/>
          <p:cNvSpPr>
            <a:spLocks noGrp="1"/>
          </p:cNvSpPr>
          <p:nvPr>
            <p:ph type="sldNum" idx="12"/>
          </p:nvPr>
        </p:nvSpPr>
        <p:spPr/>
        <p:txBody>
          <a:bodyPr/>
          <a:lstStyle/>
          <a:p>
            <a:fld id="{00000000-1234-1234-1234-123412341234}" type="slidenum">
              <a:rPr lang="en" smtClean="0"/>
              <a:pPr/>
              <a:t>8</a:t>
            </a:fld>
            <a:endParaRPr lang="en"/>
          </a:p>
        </p:txBody>
      </p:sp>
    </p:spTree>
    <p:extLst>
      <p:ext uri="{BB962C8B-B14F-4D97-AF65-F5344CB8AC3E}">
        <p14:creationId xmlns:p14="http://schemas.microsoft.com/office/powerpoint/2010/main" val="2028100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734" y="523433"/>
            <a:ext cx="8064709" cy="1021600"/>
          </a:xfrm>
        </p:spPr>
        <p:txBody>
          <a:bodyPr/>
          <a:lstStyle/>
          <a:p>
            <a:r>
              <a:rPr lang="en-IN" b="1" dirty="0">
                <a:latin typeface="Times New Roman" panose="02020603050405020304" pitchFamily="18" charset="0"/>
                <a:cs typeface="Times New Roman" panose="02020603050405020304" pitchFamily="18" charset="0"/>
              </a:rPr>
              <a:t>SYSTEM ARCHITECTURE  </a:t>
            </a:r>
            <a:endParaRPr lang="en-IN" b="1" dirty="0"/>
          </a:p>
        </p:txBody>
      </p:sp>
      <p:sp>
        <p:nvSpPr>
          <p:cNvPr id="5" name="Slide Number Placeholder 4"/>
          <p:cNvSpPr>
            <a:spLocks noGrp="1"/>
          </p:cNvSpPr>
          <p:nvPr>
            <p:ph type="sldNum" idx="12"/>
          </p:nvPr>
        </p:nvSpPr>
        <p:spPr/>
        <p:txBody>
          <a:bodyPr/>
          <a:lstStyle/>
          <a:p>
            <a:fld id="{00000000-1234-1234-1234-123412341234}" type="slidenum">
              <a:rPr lang="en" smtClean="0"/>
              <a:pPr/>
              <a:t>9</a:t>
            </a:fld>
            <a:endParaRPr lang="en"/>
          </a:p>
        </p:txBody>
      </p:sp>
      <p:sp>
        <p:nvSpPr>
          <p:cNvPr id="3" name="Rectangle 19"/>
          <p:cNvSpPr>
            <a:spLocks noChangeArrowheads="1"/>
          </p:cNvSpPr>
          <p:nvPr/>
        </p:nvSpPr>
        <p:spPr bwMode="auto">
          <a:xfrm>
            <a:off x="1" y="58580"/>
            <a:ext cx="24628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p>
            <a:endParaRPr lang="en-IN" sz="2400" dirty="0"/>
          </a:p>
        </p:txBody>
      </p:sp>
      <p:grpSp>
        <p:nvGrpSpPr>
          <p:cNvPr id="42" name="Canvas 1"/>
          <p:cNvGrpSpPr/>
          <p:nvPr/>
        </p:nvGrpSpPr>
        <p:grpSpPr>
          <a:xfrm>
            <a:off x="919701" y="1935480"/>
            <a:ext cx="8812696" cy="4198620"/>
            <a:chOff x="0" y="0"/>
            <a:chExt cx="5486400" cy="4198620"/>
          </a:xfrm>
        </p:grpSpPr>
        <p:sp>
          <p:nvSpPr>
            <p:cNvPr id="43" name="Rectangle 42"/>
            <p:cNvSpPr/>
            <p:nvPr/>
          </p:nvSpPr>
          <p:spPr>
            <a:xfrm>
              <a:off x="0" y="0"/>
              <a:ext cx="5486400" cy="4198620"/>
            </a:xfrm>
            <a:prstGeom prst="rect">
              <a:avLst/>
            </a:prstGeom>
          </p:spPr>
        </p:sp>
        <p:sp>
          <p:nvSpPr>
            <p:cNvPr id="44" name="Rectangle 43"/>
            <p:cNvSpPr/>
            <p:nvPr/>
          </p:nvSpPr>
          <p:spPr>
            <a:xfrm>
              <a:off x="129540" y="175260"/>
              <a:ext cx="1196340"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a:effectLst/>
                  <a:latin typeface="Times New Roman"/>
                  <a:ea typeface="Calibri"/>
                  <a:cs typeface="Times New Roman"/>
                </a:rPr>
                <a:t>Data collection (CSV File)</a:t>
              </a:r>
              <a:endParaRPr lang="en-IN" sz="1100">
                <a:effectLst/>
                <a:ea typeface="Calibri"/>
                <a:cs typeface="Times New Roman"/>
              </a:endParaRPr>
            </a:p>
          </p:txBody>
        </p:sp>
        <p:sp>
          <p:nvSpPr>
            <p:cNvPr id="45" name="Rectangle 44"/>
            <p:cNvSpPr/>
            <p:nvPr/>
          </p:nvSpPr>
          <p:spPr>
            <a:xfrm>
              <a:off x="1805940" y="175260"/>
              <a:ext cx="1478280"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a:effectLst/>
                  <a:latin typeface="Times New Roman"/>
                  <a:ea typeface="Calibri"/>
                  <a:cs typeface="Times New Roman"/>
                </a:rPr>
                <a:t>Data Pre Processing </a:t>
              </a:r>
              <a:endParaRPr lang="en-IN" sz="1100">
                <a:effectLst/>
                <a:ea typeface="Calibri"/>
                <a:cs typeface="Times New Roman"/>
              </a:endParaRPr>
            </a:p>
          </p:txBody>
        </p:sp>
        <p:sp>
          <p:nvSpPr>
            <p:cNvPr id="46" name="Rectangle 45"/>
            <p:cNvSpPr/>
            <p:nvPr/>
          </p:nvSpPr>
          <p:spPr>
            <a:xfrm>
              <a:off x="3794760" y="175260"/>
              <a:ext cx="1440180"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a:effectLst/>
                  <a:latin typeface="Times New Roman"/>
                  <a:ea typeface="Calibri"/>
                  <a:cs typeface="Times New Roman"/>
                </a:rPr>
                <a:t>EDA Analysis </a:t>
              </a:r>
              <a:endParaRPr lang="en-IN" sz="1100">
                <a:effectLst/>
                <a:ea typeface="Calibri"/>
                <a:cs typeface="Times New Roman"/>
              </a:endParaRPr>
            </a:p>
          </p:txBody>
        </p:sp>
        <p:sp>
          <p:nvSpPr>
            <p:cNvPr id="47" name="Rectangle 46"/>
            <p:cNvSpPr/>
            <p:nvPr/>
          </p:nvSpPr>
          <p:spPr>
            <a:xfrm>
              <a:off x="3459480" y="1089660"/>
              <a:ext cx="1912620" cy="183642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8" name="Rectangle 47"/>
            <p:cNvSpPr/>
            <p:nvPr/>
          </p:nvSpPr>
          <p:spPr>
            <a:xfrm>
              <a:off x="3848100" y="1242060"/>
              <a:ext cx="1287780" cy="350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a:effectLst/>
                  <a:latin typeface="Times New Roman"/>
                  <a:ea typeface="Calibri"/>
                  <a:cs typeface="Times New Roman"/>
                </a:rPr>
                <a:t>Splitting of data</a:t>
              </a:r>
              <a:endParaRPr lang="en-IN" sz="1100">
                <a:effectLst/>
                <a:ea typeface="Calibri"/>
                <a:cs typeface="Times New Roman"/>
              </a:endParaRPr>
            </a:p>
          </p:txBody>
        </p:sp>
        <p:sp>
          <p:nvSpPr>
            <p:cNvPr id="49" name="Rectangle 48"/>
            <p:cNvSpPr/>
            <p:nvPr/>
          </p:nvSpPr>
          <p:spPr>
            <a:xfrm>
              <a:off x="3733800" y="2103120"/>
              <a:ext cx="1501140" cy="548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a:effectLst/>
                  <a:latin typeface="Times New Roman"/>
                  <a:ea typeface="Calibri"/>
                  <a:cs typeface="Times New Roman"/>
                </a:rPr>
                <a:t>Training and Testing </a:t>
              </a:r>
              <a:endParaRPr lang="en-IN" sz="1100">
                <a:effectLst/>
                <a:ea typeface="Calibri"/>
                <a:cs typeface="Times New Roman"/>
              </a:endParaRPr>
            </a:p>
          </p:txBody>
        </p:sp>
        <p:sp>
          <p:nvSpPr>
            <p:cNvPr id="50" name="Rectangle 49"/>
            <p:cNvSpPr/>
            <p:nvPr/>
          </p:nvSpPr>
          <p:spPr>
            <a:xfrm>
              <a:off x="822960" y="1089660"/>
              <a:ext cx="2019300" cy="189738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51" name="Rectangle 50"/>
            <p:cNvSpPr/>
            <p:nvPr/>
          </p:nvSpPr>
          <p:spPr>
            <a:xfrm>
              <a:off x="1005840" y="1165860"/>
              <a:ext cx="1691640" cy="4876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a:effectLst/>
                  <a:latin typeface="Times New Roman"/>
                  <a:ea typeface="Calibri"/>
                  <a:cs typeface="Times New Roman"/>
                </a:rPr>
                <a:t>Model Implementation </a:t>
              </a:r>
              <a:endParaRPr lang="en-IN" sz="1100">
                <a:effectLst/>
                <a:ea typeface="Calibri"/>
                <a:cs typeface="Times New Roman"/>
              </a:endParaRPr>
            </a:p>
          </p:txBody>
        </p:sp>
        <p:sp>
          <p:nvSpPr>
            <p:cNvPr id="52" name="Rectangle 51"/>
            <p:cNvSpPr/>
            <p:nvPr/>
          </p:nvSpPr>
          <p:spPr>
            <a:xfrm>
              <a:off x="967740" y="1836420"/>
              <a:ext cx="1783080" cy="10896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lvl="0" indent="-342900">
                <a:lnSpc>
                  <a:spcPct val="115000"/>
                </a:lnSpc>
                <a:spcAft>
                  <a:spcPts val="0"/>
                </a:spcAft>
                <a:buFont typeface="+mj-lt"/>
                <a:buAutoNum type="arabicPeriod"/>
              </a:pPr>
              <a:r>
                <a:rPr lang="en-US" sz="1200" b="1">
                  <a:effectLst/>
                  <a:latin typeface="Times New Roman"/>
                  <a:ea typeface="Calibri"/>
                  <a:cs typeface="Times New Roman"/>
                </a:rPr>
                <a:t>Random Forest </a:t>
              </a:r>
              <a:endParaRPr lang="en-IN" sz="1100">
                <a:effectLst/>
                <a:ea typeface="Calibri"/>
                <a:cs typeface="Times New Roman"/>
              </a:endParaRPr>
            </a:p>
            <a:p>
              <a:pPr marL="342900" lvl="0" indent="-342900">
                <a:lnSpc>
                  <a:spcPct val="115000"/>
                </a:lnSpc>
                <a:spcAft>
                  <a:spcPts val="0"/>
                </a:spcAft>
                <a:buFont typeface="+mj-lt"/>
                <a:buAutoNum type="arabicPeriod"/>
              </a:pPr>
              <a:r>
                <a:rPr lang="en-US" sz="1200" b="1">
                  <a:effectLst/>
                  <a:latin typeface="Times New Roman"/>
                  <a:ea typeface="Calibri"/>
                  <a:cs typeface="Times New Roman"/>
                </a:rPr>
                <a:t>ADA Boost </a:t>
              </a:r>
              <a:endParaRPr lang="en-IN" sz="1100">
                <a:effectLst/>
                <a:ea typeface="Calibri"/>
                <a:cs typeface="Times New Roman"/>
              </a:endParaRPr>
            </a:p>
            <a:p>
              <a:pPr marL="342900" lvl="0" indent="-342900">
                <a:lnSpc>
                  <a:spcPct val="115000"/>
                </a:lnSpc>
                <a:spcAft>
                  <a:spcPts val="0"/>
                </a:spcAft>
                <a:buFont typeface="+mj-lt"/>
                <a:buAutoNum type="arabicPeriod"/>
              </a:pPr>
              <a:r>
                <a:rPr lang="en-US" sz="1200" b="1">
                  <a:effectLst/>
                  <a:latin typeface="Times New Roman"/>
                  <a:ea typeface="Calibri"/>
                  <a:cs typeface="Times New Roman"/>
                </a:rPr>
                <a:t>Cat Boost </a:t>
              </a:r>
              <a:endParaRPr lang="en-IN" sz="1100">
                <a:effectLst/>
                <a:ea typeface="Calibri"/>
                <a:cs typeface="Times New Roman"/>
              </a:endParaRPr>
            </a:p>
            <a:p>
              <a:pPr marL="342900" lvl="0" indent="-342900">
                <a:lnSpc>
                  <a:spcPct val="115000"/>
                </a:lnSpc>
                <a:spcAft>
                  <a:spcPts val="0"/>
                </a:spcAft>
                <a:buFont typeface="+mj-lt"/>
                <a:buAutoNum type="arabicPeriod"/>
              </a:pPr>
              <a:r>
                <a:rPr lang="en-US" sz="1200" b="1">
                  <a:effectLst/>
                  <a:latin typeface="Times New Roman"/>
                  <a:ea typeface="Calibri"/>
                  <a:cs typeface="Times New Roman"/>
                </a:rPr>
                <a:t>XG Boost </a:t>
              </a:r>
              <a:endParaRPr lang="en-IN" sz="1100">
                <a:effectLst/>
                <a:ea typeface="Calibri"/>
                <a:cs typeface="Times New Roman"/>
              </a:endParaRPr>
            </a:p>
            <a:p>
              <a:pPr marL="342900" lvl="0" indent="-342900">
                <a:lnSpc>
                  <a:spcPct val="115000"/>
                </a:lnSpc>
                <a:spcAft>
                  <a:spcPts val="1000"/>
                </a:spcAft>
                <a:buFont typeface="+mj-lt"/>
                <a:buAutoNum type="arabicPeriod"/>
              </a:pPr>
              <a:r>
                <a:rPr lang="en-US" sz="1200" b="1">
                  <a:effectLst/>
                  <a:latin typeface="Times New Roman"/>
                  <a:ea typeface="Calibri"/>
                  <a:cs typeface="Times New Roman"/>
                </a:rPr>
                <a:t>Light Boost </a:t>
              </a:r>
              <a:endParaRPr lang="en-IN" sz="1100">
                <a:effectLst/>
                <a:ea typeface="Calibri"/>
                <a:cs typeface="Times New Roman"/>
              </a:endParaRPr>
            </a:p>
          </p:txBody>
        </p:sp>
        <p:sp>
          <p:nvSpPr>
            <p:cNvPr id="53" name="Rectangle 52"/>
            <p:cNvSpPr/>
            <p:nvPr/>
          </p:nvSpPr>
          <p:spPr>
            <a:xfrm>
              <a:off x="762001" y="3314700"/>
              <a:ext cx="1536513" cy="769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effectLst/>
                  <a:latin typeface="Times New Roman"/>
                  <a:ea typeface="Calibri"/>
                  <a:cs typeface="Times New Roman"/>
                </a:rPr>
                <a:t>Prediction</a:t>
              </a:r>
              <a:endParaRPr lang="en-IN" sz="1100" dirty="0">
                <a:effectLst/>
                <a:ea typeface="Calibri"/>
                <a:cs typeface="Times New Roman"/>
              </a:endParaRPr>
            </a:p>
            <a:p>
              <a:pPr algn="ctr">
                <a:lnSpc>
                  <a:spcPct val="115000"/>
                </a:lnSpc>
                <a:spcAft>
                  <a:spcPts val="1000"/>
                </a:spcAft>
              </a:pPr>
              <a:r>
                <a:rPr lang="en-US" sz="1200" b="1" dirty="0">
                  <a:effectLst/>
                  <a:latin typeface="Times New Roman"/>
                  <a:ea typeface="Calibri"/>
                  <a:cs typeface="Times New Roman"/>
                </a:rPr>
                <a:t>(Accuracy and confusion matrix)</a:t>
              </a:r>
              <a:endParaRPr lang="en-IN" sz="1100" dirty="0">
                <a:effectLst/>
                <a:ea typeface="Calibri"/>
                <a:cs typeface="Times New Roman"/>
              </a:endParaRPr>
            </a:p>
          </p:txBody>
        </p:sp>
        <p:cxnSp>
          <p:nvCxnSpPr>
            <p:cNvPr id="54" name="Straight Arrow Connector 53"/>
            <p:cNvCxnSpPr>
              <a:stCxn id="44" idx="3"/>
              <a:endCxn id="45" idx="1"/>
            </p:cNvCxnSpPr>
            <p:nvPr/>
          </p:nvCxnSpPr>
          <p:spPr>
            <a:xfrm>
              <a:off x="1325880" y="426720"/>
              <a:ext cx="48006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3284220" y="426720"/>
              <a:ext cx="5105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46" idx="2"/>
            </p:cNvCxnSpPr>
            <p:nvPr/>
          </p:nvCxnSpPr>
          <p:spPr>
            <a:xfrm>
              <a:off x="4514850" y="678180"/>
              <a:ext cx="34290" cy="411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48" idx="2"/>
            </p:cNvCxnSpPr>
            <p:nvPr/>
          </p:nvCxnSpPr>
          <p:spPr>
            <a:xfrm>
              <a:off x="4491990" y="1592580"/>
              <a:ext cx="22860" cy="5105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47" idx="1"/>
            </p:cNvCxnSpPr>
            <p:nvPr/>
          </p:nvCxnSpPr>
          <p:spPr>
            <a:xfrm flipH="1">
              <a:off x="2842260" y="2007870"/>
              <a:ext cx="617220" cy="190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51" idx="2"/>
              <a:endCxn id="52" idx="0"/>
            </p:cNvCxnSpPr>
            <p:nvPr/>
          </p:nvCxnSpPr>
          <p:spPr>
            <a:xfrm>
              <a:off x="1851660" y="1653540"/>
              <a:ext cx="7620" cy="1828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1529667" y="2987040"/>
              <a:ext cx="19050" cy="3276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5485167" y="5316771"/>
            <a:ext cx="1613194" cy="6099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itchFamily="18" charset="0"/>
                <a:cs typeface="Times New Roman" pitchFamily="18" charset="0"/>
              </a:rPr>
              <a:t>Web application (flask framework work)</a:t>
            </a:r>
            <a:endParaRPr lang="en-IN" sz="1200" b="1" dirty="0">
              <a:latin typeface="Times New Roman" pitchFamily="18" charset="0"/>
              <a:cs typeface="Times New Roman" pitchFamily="18" charset="0"/>
            </a:endParaRPr>
          </a:p>
        </p:txBody>
      </p:sp>
      <p:sp>
        <p:nvSpPr>
          <p:cNvPr id="6" name="Rectangle 5"/>
          <p:cNvSpPr/>
          <p:nvPr/>
        </p:nvSpPr>
        <p:spPr>
          <a:xfrm>
            <a:off x="7680960" y="5316771"/>
            <a:ext cx="1431235" cy="6099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itchFamily="18" charset="0"/>
                <a:cs typeface="Times New Roman" pitchFamily="18" charset="0"/>
              </a:rPr>
              <a:t>Prediction (fraud or non fraud)</a:t>
            </a:r>
            <a:endParaRPr lang="en-IN" sz="1200" b="1" dirty="0">
              <a:latin typeface="Times New Roman" pitchFamily="18" charset="0"/>
              <a:cs typeface="Times New Roman" pitchFamily="18" charset="0"/>
            </a:endParaRPr>
          </a:p>
        </p:txBody>
      </p:sp>
      <p:cxnSp>
        <p:nvCxnSpPr>
          <p:cNvPr id="8" name="Straight Arrow Connector 7"/>
          <p:cNvCxnSpPr>
            <a:stCxn id="53" idx="3"/>
            <a:endCxn id="4" idx="1"/>
          </p:cNvCxnSpPr>
          <p:nvPr/>
        </p:nvCxnSpPr>
        <p:spPr>
          <a:xfrm flipV="1">
            <a:off x="4611758" y="5621737"/>
            <a:ext cx="873409" cy="132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3"/>
            <a:endCxn id="6" idx="1"/>
          </p:cNvCxnSpPr>
          <p:nvPr/>
        </p:nvCxnSpPr>
        <p:spPr>
          <a:xfrm>
            <a:off x="7098361" y="5621737"/>
            <a:ext cx="58259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0671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MODULE</a:t>
            </a:r>
            <a:endParaRPr lang="en-IN" b="1" dirty="0"/>
          </a:p>
        </p:txBody>
      </p:sp>
      <p:sp>
        <p:nvSpPr>
          <p:cNvPr id="3" name="Text Placeholder 2"/>
          <p:cNvSpPr>
            <a:spLocks noGrp="1"/>
          </p:cNvSpPr>
          <p:nvPr>
            <p:ph type="body" idx="1"/>
          </p:nvPr>
        </p:nvSpPr>
        <p:spPr>
          <a:xfrm>
            <a:off x="546054" y="1900748"/>
            <a:ext cx="10844323" cy="3743068"/>
          </a:xfrm>
        </p:spPr>
        <p:txBody>
          <a:bodyPr/>
          <a:lstStyle/>
          <a:p>
            <a:pPr algn="just">
              <a:lnSpc>
                <a:spcPct val="150000"/>
              </a:lnSpc>
            </a:pPr>
            <a:r>
              <a:rPr lang="en-US" sz="1800" dirty="0">
                <a:latin typeface="Times New Roman" panose="02020603050405020304" pitchFamily="18" charset="0"/>
                <a:cs typeface="Times New Roman" panose="02020603050405020304" pitchFamily="18" charset="0"/>
              </a:rPr>
              <a:t>Module 1: Dataset collection</a:t>
            </a:r>
          </a:p>
          <a:p>
            <a:pPr algn="just">
              <a:lnSpc>
                <a:spcPct val="150000"/>
              </a:lnSpc>
            </a:pPr>
            <a:r>
              <a:rPr lang="en-US" sz="1800" dirty="0">
                <a:latin typeface="Times New Roman" panose="02020603050405020304" pitchFamily="18" charset="0"/>
                <a:cs typeface="Times New Roman" panose="02020603050405020304" pitchFamily="18" charset="0"/>
              </a:rPr>
              <a:t>Module 2: Pre-processing</a:t>
            </a:r>
          </a:p>
          <a:p>
            <a:pPr algn="just">
              <a:lnSpc>
                <a:spcPct val="150000"/>
              </a:lnSpc>
            </a:pPr>
            <a:r>
              <a:rPr lang="en-US" sz="1800" dirty="0">
                <a:latin typeface="Times New Roman" panose="02020603050405020304" pitchFamily="18" charset="0"/>
                <a:cs typeface="Times New Roman" panose="02020603050405020304" pitchFamily="18" charset="0"/>
              </a:rPr>
              <a:t>Module 3: Split data</a:t>
            </a:r>
          </a:p>
          <a:p>
            <a:pPr algn="just">
              <a:lnSpc>
                <a:spcPct val="150000"/>
              </a:lnSpc>
            </a:pPr>
            <a:r>
              <a:rPr lang="en-US" sz="1800" dirty="0">
                <a:latin typeface="Times New Roman" panose="02020603050405020304" pitchFamily="18" charset="0"/>
                <a:cs typeface="Times New Roman" panose="02020603050405020304" pitchFamily="18" charset="0"/>
              </a:rPr>
              <a:t>Module 4: Model Implementation </a:t>
            </a:r>
          </a:p>
          <a:p>
            <a:pPr algn="just">
              <a:lnSpc>
                <a:spcPct val="150000"/>
              </a:lnSpc>
            </a:pPr>
            <a:r>
              <a:rPr lang="en-US" sz="1800" dirty="0">
                <a:latin typeface="Times New Roman" panose="02020603050405020304" pitchFamily="18" charset="0"/>
                <a:cs typeface="Times New Roman" panose="02020603050405020304" pitchFamily="18" charset="0"/>
              </a:rPr>
              <a:t>Module 5: Evaluate Accuracy</a:t>
            </a:r>
          </a:p>
          <a:p>
            <a:pPr algn="just">
              <a:lnSpc>
                <a:spcPct val="150000"/>
              </a:lnSpc>
            </a:pPr>
            <a:r>
              <a:rPr lang="en-US" sz="1800" dirty="0">
                <a:latin typeface="Times New Roman" panose="02020603050405020304" pitchFamily="18" charset="0"/>
                <a:cs typeface="Times New Roman" panose="02020603050405020304" pitchFamily="18" charset="0"/>
              </a:rPr>
              <a:t>Module 6: flask prediction </a:t>
            </a:r>
          </a:p>
          <a:p>
            <a:pPr algn="just">
              <a:lnSpc>
                <a:spcPct val="150000"/>
              </a:lnSpc>
            </a:pPr>
            <a:endParaRPr lang="en-US" sz="18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800" dirty="0">
              <a:latin typeface="Times New Roman" pitchFamily="18" charset="0"/>
              <a:cs typeface="Times New Roman" pitchFamily="18" charset="0"/>
            </a:endParaRPr>
          </a:p>
          <a:p>
            <a:pPr>
              <a:lnSpc>
                <a:spcPct val="150000"/>
              </a:lnSpc>
            </a:pPr>
            <a:endParaRPr lang="en-IN" sz="1800"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10</a:t>
            </a:fld>
            <a:endParaRPr lang="en"/>
          </a:p>
        </p:txBody>
      </p:sp>
    </p:spTree>
    <p:extLst>
      <p:ext uri="{BB962C8B-B14F-4D97-AF65-F5344CB8AC3E}">
        <p14:creationId xmlns:p14="http://schemas.microsoft.com/office/powerpoint/2010/main" val="3828815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610" y="523433"/>
            <a:ext cx="7792290"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b="1" dirty="0"/>
          </a:p>
        </p:txBody>
      </p:sp>
      <p:sp>
        <p:nvSpPr>
          <p:cNvPr id="3" name="Text Placeholder 2"/>
          <p:cNvSpPr>
            <a:spLocks noGrp="1"/>
          </p:cNvSpPr>
          <p:nvPr>
            <p:ph type="body" idx="1"/>
          </p:nvPr>
        </p:nvSpPr>
        <p:spPr>
          <a:xfrm>
            <a:off x="156754" y="1825797"/>
            <a:ext cx="10992179" cy="4508770"/>
          </a:xfrm>
        </p:spPr>
        <p:txBody>
          <a:bodyPr/>
          <a:lstStyle/>
          <a:p>
            <a:pPr algn="just">
              <a:lnSpc>
                <a:spcPct val="150000"/>
              </a:lnSpc>
              <a:spcAft>
                <a:spcPts val="800"/>
              </a:spcAft>
              <a:buFont typeface="Wingdings" panose="05000000000000000000" pitchFamily="2" charset="2"/>
              <a:buChar char="q"/>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Module 1: Data</a:t>
            </a:r>
            <a:r>
              <a:rPr lang="en-IN" sz="1800" b="1" dirty="0">
                <a:latin typeface="Times New Roman" panose="02020603050405020304" pitchFamily="18" charset="0"/>
                <a:ea typeface="Calibri" panose="020F0502020204030204" pitchFamily="34" charset="0"/>
                <a:cs typeface="Times New Roman" panose="02020603050405020304" pitchFamily="18" charset="0"/>
              </a:rPr>
              <a:t> Collection</a:t>
            </a:r>
          </a:p>
          <a:p>
            <a:pPr algn="just">
              <a:lnSpc>
                <a:spcPct val="150000"/>
              </a:lnSpc>
            </a:pPr>
            <a:r>
              <a:rPr lang="en-US" sz="1800" dirty="0">
                <a:latin typeface="Times New Roman" pitchFamily="18" charset="0"/>
                <a:cs typeface="Times New Roman" pitchFamily="18" charset="0"/>
              </a:rPr>
              <a:t>Data collection is the process of gathering and measuring information on variables of interest, in an established systematic fashion that enables one to answer stated research questions, test hypotheses, and evaluate outcomes.</a:t>
            </a:r>
          </a:p>
          <a:p>
            <a:pPr algn="just">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dataset were collected from the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kaggle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website </a:t>
            </a:r>
          </a:p>
          <a:p>
            <a:pPr algn="just">
              <a:lnSpc>
                <a:spcPct val="150000"/>
              </a:lnSpc>
            </a:pPr>
            <a:r>
              <a:rPr lang="en-US" sz="1800" dirty="0">
                <a:latin typeface="Times New Roman" panose="02020603050405020304" pitchFamily="18" charset="0"/>
                <a:ea typeface="Calibri" panose="020F0502020204030204" pitchFamily="34" charset="0"/>
                <a:cs typeface="Times New Roman" panose="02020603050405020304" pitchFamily="18" charset="0"/>
              </a:rPr>
              <a:t>Here for this project we are using CSV file format of dataset.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11</a:t>
            </a:fld>
            <a:endParaRPr lang="en"/>
          </a:p>
        </p:txBody>
      </p:sp>
    </p:spTree>
    <p:extLst>
      <p:ext uri="{BB962C8B-B14F-4D97-AF65-F5344CB8AC3E}">
        <p14:creationId xmlns:p14="http://schemas.microsoft.com/office/powerpoint/2010/main" val="2182066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9919F-ABC5-4B89-BFFC-3A7D3A055F76}"/>
              </a:ext>
            </a:extLst>
          </p:cNvPr>
          <p:cNvSpPr>
            <a:spLocks noGrp="1"/>
          </p:cNvSpPr>
          <p:nvPr>
            <p:ph type="title"/>
          </p:nvPr>
        </p:nvSpPr>
        <p:spPr>
          <a:xfrm>
            <a:off x="254833" y="523433"/>
            <a:ext cx="7842067"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dirty="0"/>
          </a:p>
        </p:txBody>
      </p:sp>
      <p:sp>
        <p:nvSpPr>
          <p:cNvPr id="3" name="Text Placeholder 2">
            <a:extLst>
              <a:ext uri="{FF2B5EF4-FFF2-40B4-BE49-F238E27FC236}">
                <a16:creationId xmlns:a16="http://schemas.microsoft.com/office/drawing/2014/main" id="{6010677C-02D4-49FC-928B-33D084DD9DB2}"/>
              </a:ext>
            </a:extLst>
          </p:cNvPr>
          <p:cNvSpPr>
            <a:spLocks noGrp="1"/>
          </p:cNvSpPr>
          <p:nvPr>
            <p:ph type="body" idx="1"/>
          </p:nvPr>
        </p:nvSpPr>
        <p:spPr>
          <a:xfrm>
            <a:off x="254833" y="1813810"/>
            <a:ext cx="10411097" cy="4637314"/>
          </a:xfrm>
        </p:spPr>
        <p:txBody>
          <a:bodyPr/>
          <a:lstStyle/>
          <a:p>
            <a:pPr>
              <a:lnSpc>
                <a:spcPct val="150000"/>
              </a:lnSpc>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Module 2: </a:t>
            </a:r>
            <a:r>
              <a:rPr lang="en-IN" sz="1800" b="1" dirty="0">
                <a:latin typeface="Times New Roman" panose="02020603050405020304" pitchFamily="18" charset="0"/>
                <a:ea typeface="Calibri" panose="020F0502020204030204" pitchFamily="34" charset="0"/>
                <a:cs typeface="Times New Roman" panose="02020603050405020304" pitchFamily="18" charset="0"/>
              </a:rPr>
              <a:t>Data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Pre-Processing</a:t>
            </a:r>
          </a:p>
          <a:p>
            <a:pPr marL="628650" indent="-285750" algn="just">
              <a:lnSpc>
                <a:spcPct val="150000"/>
              </a:lnSpc>
              <a:spcAft>
                <a:spcPts val="800"/>
              </a:spcAft>
              <a:buFont typeface="Wingdings" panose="05000000000000000000" pitchFamily="2" charset="2"/>
              <a:buChar char="Ø"/>
            </a:pPr>
            <a:r>
              <a:rPr lang="en-IN" sz="1800" dirty="0">
                <a:latin typeface="Times New Roman" pitchFamily="18" charset="0"/>
                <a:ea typeface="Calibri" panose="020F0502020204030204" pitchFamily="34" charset="0"/>
                <a:cs typeface="Times New Roman" panose="02020603050405020304" pitchFamily="18" charset="0"/>
              </a:rPr>
              <a:t>Once the data is extracted from the twitter source as the datasets, this information has to be passed to the classifier. The classifier cleans the dataset by removing redundant data like stop words, emoticons in order to make sure that non textual content is identified and removed before the analysis.</a:t>
            </a:r>
          </a:p>
          <a:p>
            <a:pPr marL="628650" indent="-285750" algn="just">
              <a:lnSpc>
                <a:spcPct val="150000"/>
              </a:lnSpc>
              <a:spcAft>
                <a:spcPts val="800"/>
              </a:spcAft>
              <a:buFont typeface="Wingdings" panose="05000000000000000000" pitchFamily="2" charset="2"/>
              <a:buChar char="Ø"/>
            </a:pPr>
            <a:r>
              <a:rPr lang="en-IN" sz="1800" dirty="0">
                <a:solidFill>
                  <a:srgbClr val="000000"/>
                </a:solidFill>
                <a:latin typeface="Times New Roman" panose="02020603050405020304" pitchFamily="18" charset="0"/>
                <a:ea typeface="Times New Roman" panose="02020603050405020304" pitchFamily="18" charset="0"/>
                <a:cs typeface="Times New Roman" pitchFamily="18" charset="0"/>
              </a:rPr>
              <a:t>The </a:t>
            </a:r>
            <a:r>
              <a:rPr lang="en-IN" sz="1800" dirty="0" err="1">
                <a:solidFill>
                  <a:srgbClr val="000000"/>
                </a:solidFill>
                <a:latin typeface="Times New Roman" panose="02020603050405020304" pitchFamily="18" charset="0"/>
                <a:ea typeface="Times New Roman" panose="02020603050405020304" pitchFamily="18" charset="0"/>
                <a:cs typeface="Times New Roman" pitchFamily="18" charset="0"/>
              </a:rPr>
              <a:t>sklearn</a:t>
            </a:r>
            <a:r>
              <a:rPr lang="en-IN" sz="1800" dirty="0">
                <a:solidFill>
                  <a:srgbClr val="000000"/>
                </a:solidFill>
                <a:latin typeface="Times New Roman" panose="02020603050405020304" pitchFamily="18" charset="0"/>
                <a:ea typeface="Times New Roman" panose="02020603050405020304" pitchFamily="18" charset="0"/>
                <a:cs typeface="Times New Roman" pitchFamily="18" charset="0"/>
              </a:rPr>
              <a:t>. </a:t>
            </a:r>
            <a:r>
              <a:rPr lang="en-IN" sz="1800" dirty="0" err="1">
                <a:solidFill>
                  <a:srgbClr val="000000"/>
                </a:solidFill>
                <a:latin typeface="Times New Roman" panose="02020603050405020304" pitchFamily="18" charset="0"/>
                <a:ea typeface="Times New Roman" panose="02020603050405020304" pitchFamily="18" charset="0"/>
                <a:cs typeface="Times New Roman" pitchFamily="18" charset="0"/>
              </a:rPr>
              <a:t>preprocessing</a:t>
            </a:r>
            <a:r>
              <a:rPr lang="en-IN" sz="1800" dirty="0">
                <a:solidFill>
                  <a:srgbClr val="000000"/>
                </a:solidFill>
                <a:latin typeface="Times New Roman" panose="02020603050405020304" pitchFamily="18" charset="0"/>
                <a:ea typeface="Times New Roman" panose="02020603050405020304" pitchFamily="18" charset="0"/>
                <a:cs typeface="Times New Roman" pitchFamily="18" charset="0"/>
              </a:rPr>
              <a:t> package provides several common utility functions and transformer classes to change raw feature vectors into a representation that is more suitable for the downstream estimators.</a:t>
            </a:r>
            <a:endParaRPr lang="en-IN" sz="1800" dirty="0">
              <a:latin typeface="Times New Roman" panose="02020603050405020304" pitchFamily="18" charset="0"/>
              <a:ea typeface="Times New Roman" panose="02020603050405020304" pitchFamily="18" charset="0"/>
              <a:cs typeface="Times New Roman" pitchFamily="18" charset="0"/>
            </a:endParaRPr>
          </a:p>
          <a:p>
            <a:pPr marL="628650" indent="-285750" algn="just">
              <a:lnSpc>
                <a:spcPct val="150000"/>
              </a:lnSpc>
              <a:buFont typeface="Wingdings" panose="05000000000000000000" pitchFamily="2" charset="2"/>
              <a:buChar char="Ø"/>
            </a:pPr>
            <a:r>
              <a:rPr lang="en-IN" sz="1800" dirty="0">
                <a:solidFill>
                  <a:srgbClr val="000000"/>
                </a:solidFill>
                <a:latin typeface="Times New Roman" panose="02020603050405020304" pitchFamily="18" charset="0"/>
                <a:ea typeface="Times New Roman" panose="02020603050405020304" pitchFamily="18" charset="0"/>
                <a:cs typeface="Times New Roman" pitchFamily="18" charset="0"/>
              </a:rPr>
              <a:t>In general, learning algorithms benefit from standardization of the data set. If some outliers are present in the set, robust </a:t>
            </a:r>
            <a:r>
              <a:rPr lang="en-IN" sz="1800" dirty="0" err="1">
                <a:solidFill>
                  <a:srgbClr val="000000"/>
                </a:solidFill>
                <a:latin typeface="Times New Roman" panose="02020603050405020304" pitchFamily="18" charset="0"/>
                <a:ea typeface="Times New Roman" panose="02020603050405020304" pitchFamily="18" charset="0"/>
                <a:cs typeface="Times New Roman" pitchFamily="18" charset="0"/>
              </a:rPr>
              <a:t>scalers</a:t>
            </a:r>
            <a:r>
              <a:rPr lang="en-IN" sz="1800" dirty="0">
                <a:solidFill>
                  <a:srgbClr val="000000"/>
                </a:solidFill>
                <a:latin typeface="Times New Roman" panose="02020603050405020304" pitchFamily="18" charset="0"/>
                <a:ea typeface="Times New Roman" panose="02020603050405020304" pitchFamily="18" charset="0"/>
                <a:cs typeface="Times New Roman" pitchFamily="18" charset="0"/>
              </a:rPr>
              <a:t> or transformers are more appropriate. </a:t>
            </a:r>
            <a:endParaRPr lang="en-IN" sz="1800" dirty="0">
              <a:latin typeface="Times New Roman" pitchFamily="18" charset="0"/>
              <a:cs typeface="Times New Roman" pitchFamily="18" charset="0"/>
            </a:endParaRPr>
          </a:p>
          <a:p>
            <a:pPr marL="135464" indent="0">
              <a:lnSpc>
                <a:spcPct val="150000"/>
              </a:lnSpc>
              <a:buNone/>
            </a:pPr>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1510628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892" y="523433"/>
            <a:ext cx="7932008"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b="1" dirty="0"/>
          </a:p>
        </p:txBody>
      </p:sp>
      <p:sp>
        <p:nvSpPr>
          <p:cNvPr id="5" name="Slide Number Placeholder 4"/>
          <p:cNvSpPr>
            <a:spLocks noGrp="1"/>
          </p:cNvSpPr>
          <p:nvPr>
            <p:ph type="sldNum" idx="12"/>
          </p:nvPr>
        </p:nvSpPr>
        <p:spPr/>
        <p:txBody>
          <a:bodyPr/>
          <a:lstStyle/>
          <a:p>
            <a:fld id="{00000000-1234-1234-1234-123412341234}" type="slidenum">
              <a:rPr lang="en" smtClean="0"/>
              <a:pPr/>
              <a:t>13</a:t>
            </a:fld>
            <a:endParaRPr lang="en"/>
          </a:p>
        </p:txBody>
      </p:sp>
      <p:sp>
        <p:nvSpPr>
          <p:cNvPr id="6" name="Text Placeholder 5">
            <a:extLst>
              <a:ext uri="{FF2B5EF4-FFF2-40B4-BE49-F238E27FC236}">
                <a16:creationId xmlns:a16="http://schemas.microsoft.com/office/drawing/2014/main" id="{8708207C-0611-489B-8FD7-579A7070FB88}"/>
              </a:ext>
            </a:extLst>
          </p:cNvPr>
          <p:cNvSpPr>
            <a:spLocks noGrp="1"/>
          </p:cNvSpPr>
          <p:nvPr>
            <p:ph type="body" idx="1"/>
          </p:nvPr>
        </p:nvSpPr>
        <p:spPr>
          <a:xfrm>
            <a:off x="300446" y="1870769"/>
            <a:ext cx="10552432" cy="4463798"/>
          </a:xfrm>
        </p:spPr>
        <p:txBody>
          <a:bodyPr/>
          <a:lstStyle/>
          <a:p>
            <a:pPr algn="just">
              <a:lnSpc>
                <a:spcPct val="150000"/>
              </a:lnSpc>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Module 3: </a:t>
            </a:r>
            <a:r>
              <a:rPr lang="en-US" sz="1800" b="1" dirty="0">
                <a:latin typeface="Times New Roman" panose="02020603050405020304" pitchFamily="18" charset="0"/>
                <a:cs typeface="Times New Roman" panose="02020603050405020304" pitchFamily="18" charset="0"/>
              </a:rPr>
              <a:t>Split data</a:t>
            </a:r>
          </a:p>
          <a:p>
            <a:pPr marL="135464" indent="0" algn="just">
              <a:lnSpc>
                <a:spcPct val="150000"/>
              </a:lnSpc>
              <a:buNone/>
            </a:pPr>
            <a:r>
              <a:rPr lang="en-US" sz="1800" dirty="0">
                <a:latin typeface="Times New Roman" pitchFamily="18" charset="0"/>
                <a:cs typeface="Times New Roman" pitchFamily="18" charset="0"/>
              </a:rPr>
              <a:t>The train-test split is a technique for evaluating the performance of a machine learning algorithm. It can be used for classification or regression problems and can be used for any supervised learning algorithm. The procedure involves taking a dataset and dividing it into two subsets.</a:t>
            </a:r>
          </a:p>
          <a:p>
            <a:pPr marL="135464" indent="0" algn="just">
              <a:lnSpc>
                <a:spcPct val="150000"/>
              </a:lnSpc>
              <a:buNone/>
            </a:pPr>
            <a:r>
              <a:rPr lang="en-US" sz="1800" dirty="0">
                <a:latin typeface="Times New Roman" pitchFamily="18" charset="0"/>
                <a:cs typeface="Times New Roman" pitchFamily="18" charset="0"/>
              </a:rPr>
              <a:t>The simplest and probably the most common strategy to split such a dataset is to randomly sample a fraction of the dataset. For example, 80% of the rows of the dataset can be randomly chosen for training and the remaining 20% can be used for testing.</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0599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580" y="677197"/>
            <a:ext cx="7850320" cy="777895"/>
          </a:xfrm>
        </p:spPr>
        <p:txBody>
          <a:bodyPr/>
          <a:lstStyle/>
          <a:p>
            <a:r>
              <a:rPr lang="en-IN" b="1" dirty="0">
                <a:latin typeface="Times New Roman" panose="02020603050405020304" pitchFamily="18" charset="0"/>
                <a:cs typeface="Times New Roman" panose="02020603050405020304" pitchFamily="18" charset="0"/>
              </a:rPr>
              <a:t>MODULE DESCRIPTIONS</a:t>
            </a:r>
            <a:endParaRPr lang="en-IN" b="1" dirty="0"/>
          </a:p>
        </p:txBody>
      </p:sp>
      <p:sp>
        <p:nvSpPr>
          <p:cNvPr id="3" name="Text Placeholder 2"/>
          <p:cNvSpPr>
            <a:spLocks noGrp="1"/>
          </p:cNvSpPr>
          <p:nvPr>
            <p:ph type="body" idx="1"/>
          </p:nvPr>
        </p:nvSpPr>
        <p:spPr>
          <a:xfrm>
            <a:off x="195944" y="1840250"/>
            <a:ext cx="11160426" cy="4762550"/>
          </a:xfrm>
        </p:spPr>
        <p:txBody>
          <a:bodyPr/>
          <a:lstStyle/>
          <a:p>
            <a:pPr algn="just">
              <a:lnSpc>
                <a:spcPct val="150000"/>
              </a:lnSpc>
              <a:spcAft>
                <a:spcPts val="800"/>
              </a:spcAft>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Module 4: Model Implementation </a:t>
            </a:r>
          </a:p>
          <a:p>
            <a:pPr marL="135464" indent="0" algn="just">
              <a:lnSpc>
                <a:spcPct val="150000"/>
              </a:lnSpc>
              <a:spcAft>
                <a:spcPts val="800"/>
              </a:spcAft>
              <a:buNone/>
            </a:pPr>
            <a:r>
              <a:rPr lang="en-US" sz="1800" dirty="0">
                <a:latin typeface="Times New Roman" panose="02020603050405020304" pitchFamily="18" charset="0"/>
                <a:cs typeface="Times New Roman" panose="02020603050405020304" pitchFamily="18" charset="0"/>
              </a:rPr>
              <a:t>For this project we are implementing the machine learning algorithm like random forest, ADA boost, Cat boost, XG boost and light GBM to classify the models. </a:t>
            </a:r>
          </a:p>
          <a:p>
            <a:pPr marL="135464" indent="0" algn="just">
              <a:lnSpc>
                <a:spcPct val="150000"/>
              </a:lnSpc>
              <a:spcAft>
                <a:spcPts val="800"/>
              </a:spcAft>
              <a:buNone/>
            </a:pPr>
            <a:r>
              <a:rPr lang="en-US" sz="1800" b="1" dirty="0">
                <a:latin typeface="Times New Roman" panose="02020603050405020304" pitchFamily="18" charset="0"/>
                <a:cs typeface="Times New Roman" panose="02020603050405020304" pitchFamily="18" charset="0"/>
              </a:rPr>
              <a:t>Random Forest </a:t>
            </a:r>
          </a:p>
          <a:p>
            <a:pPr marL="135464" indent="0" algn="just">
              <a:lnSpc>
                <a:spcPct val="150000"/>
              </a:lnSpc>
              <a:spcAft>
                <a:spcPts val="800"/>
              </a:spcAft>
              <a:buNone/>
            </a:pPr>
            <a:r>
              <a:rPr lang="en-IN" sz="1800" dirty="0">
                <a:latin typeface="Times New Roman" panose="02020603050405020304" pitchFamily="18" charset="0"/>
                <a:ea typeface="Calibri" panose="020F0502020204030204" pitchFamily="34" charset="0"/>
                <a:cs typeface="Times New Roman" panose="02020603050405020304" pitchFamily="18" charset="0"/>
              </a:rPr>
              <a:t>Random forests or random decision forests are an ensemble learning technique for classification, regression and different assignments that works by developing a huge number of decision trees at training time and yielding the class that is the method of the classes (classification) or mean forecast (regression) of the individual trees.</a:t>
            </a:r>
          </a:p>
          <a:p>
            <a:pPr marL="135464" indent="0" algn="just">
              <a:lnSpc>
                <a:spcPct val="150000"/>
              </a:lnSpc>
              <a:spcAft>
                <a:spcPts val="800"/>
              </a:spcAft>
              <a:buNone/>
            </a:pPr>
            <a:endParaRPr lang="en-US" sz="1800" dirty="0">
              <a:latin typeface="Times New Roman" panose="02020603050405020304" pitchFamily="18" charset="0"/>
              <a:cs typeface="Times New Roman" panose="02020603050405020304" pitchFamily="18" charset="0"/>
            </a:endParaRPr>
          </a:p>
          <a:p>
            <a:pPr algn="just">
              <a:lnSpc>
                <a:spcPct val="150000"/>
              </a:lnSpc>
              <a:spcAft>
                <a:spcPts val="800"/>
              </a:spcAft>
              <a:buFont typeface="Wingdings" panose="05000000000000000000" pitchFamily="2" charset="2"/>
              <a:buChar char="q"/>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14</a:t>
            </a:fld>
            <a:endParaRPr lang="en"/>
          </a:p>
        </p:txBody>
      </p:sp>
    </p:spTree>
    <p:extLst>
      <p:ext uri="{BB962C8B-B14F-4D97-AF65-F5344CB8AC3E}">
        <p14:creationId xmlns:p14="http://schemas.microsoft.com/office/powerpoint/2010/main" val="453168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744" y="662206"/>
            <a:ext cx="7460576" cy="777895"/>
          </a:xfrm>
        </p:spPr>
        <p:txBody>
          <a:bodyPr/>
          <a:lstStyle/>
          <a:p>
            <a:r>
              <a:rPr lang="en-IN" b="1" dirty="0">
                <a:latin typeface="Times New Roman" panose="02020603050405020304" pitchFamily="18" charset="0"/>
                <a:cs typeface="Times New Roman" panose="02020603050405020304" pitchFamily="18" charset="0"/>
              </a:rPr>
              <a:t>MODULE DESCRIPTIONS</a:t>
            </a:r>
            <a:endParaRPr lang="en-IN" b="1" dirty="0"/>
          </a:p>
        </p:txBody>
      </p:sp>
      <p:sp>
        <p:nvSpPr>
          <p:cNvPr id="3" name="Text Placeholder 2"/>
          <p:cNvSpPr>
            <a:spLocks noGrp="1"/>
          </p:cNvSpPr>
          <p:nvPr>
            <p:ph type="body" idx="1"/>
          </p:nvPr>
        </p:nvSpPr>
        <p:spPr>
          <a:xfrm>
            <a:off x="246580" y="1840250"/>
            <a:ext cx="11109789" cy="4762550"/>
          </a:xfrm>
        </p:spPr>
        <p:txBody>
          <a:bodyPr/>
          <a:lstStyle/>
          <a:p>
            <a:pPr marL="274638" indent="-182563" algn="l">
              <a:lnSpc>
                <a:spcPct val="150000"/>
              </a:lnSpc>
              <a:buNone/>
              <a:tabLst>
                <a:tab pos="627063" algn="l"/>
              </a:tabLst>
            </a:pPr>
            <a:r>
              <a:rPr lang="en-IN" sz="1800" b="1" i="0" dirty="0">
                <a:solidFill>
                  <a:srgbClr val="202124"/>
                </a:solidFill>
                <a:effectLst/>
                <a:latin typeface="Times New Roman" panose="02020603050405020304" pitchFamily="18" charset="0"/>
                <a:cs typeface="Times New Roman" panose="02020603050405020304" pitchFamily="18" charset="0"/>
              </a:rPr>
              <a:t> </a:t>
            </a:r>
            <a:endParaRPr lang="en-US" sz="2000" b="0" i="0" dirty="0">
              <a:solidFill>
                <a:srgbClr val="202124"/>
              </a:solidFill>
              <a:effectLst/>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15</a:t>
            </a:fld>
            <a:endParaRPr lang="en"/>
          </a:p>
        </p:txBody>
      </p:sp>
      <p:sp>
        <p:nvSpPr>
          <p:cNvPr id="6" name="TextBox 5">
            <a:extLst>
              <a:ext uri="{FF2B5EF4-FFF2-40B4-BE49-F238E27FC236}">
                <a16:creationId xmlns:a16="http://schemas.microsoft.com/office/drawing/2014/main" id="{01FFB65F-AC66-4141-4170-326E7F26CF9B}"/>
              </a:ext>
            </a:extLst>
          </p:cNvPr>
          <p:cNvSpPr txBox="1"/>
          <p:nvPr/>
        </p:nvSpPr>
        <p:spPr>
          <a:xfrm>
            <a:off x="420831" y="1776639"/>
            <a:ext cx="9031575" cy="4555093"/>
          </a:xfrm>
          <a:prstGeom prst="rect">
            <a:avLst/>
          </a:prstGeom>
          <a:noFill/>
        </p:spPr>
        <p:txBody>
          <a:bodyPr wrap="square">
            <a:spAutoFit/>
          </a:bodyPr>
          <a:lstStyle/>
          <a:p>
            <a:pPr lvl="0">
              <a:lnSpc>
                <a:spcPct val="150000"/>
              </a:lnSpc>
              <a:spcAft>
                <a:spcPts val="80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ADA boost</a:t>
            </a:r>
          </a:p>
          <a:p>
            <a:pPr>
              <a:lnSpc>
                <a:spcPct val="150000"/>
              </a:lnSpc>
              <a:spcAft>
                <a:spcPts val="800"/>
              </a:spcAft>
            </a:pPr>
            <a:r>
              <a:rPr lang="en-IN" dirty="0">
                <a:solidFill>
                  <a:srgbClr val="202124"/>
                </a:solidFill>
                <a:latin typeface="Times New Roman" panose="02020603050405020304" pitchFamily="18" charset="0"/>
                <a:ea typeface="Calibri" panose="020F0502020204030204" pitchFamily="34" charset="0"/>
                <a:cs typeface="Times New Roman" panose="02020603050405020304" pitchFamily="18" charset="0"/>
              </a:rPr>
              <a:t>An Ada boost classifier is a meta-estimator that </a:t>
            </a:r>
            <a:r>
              <a:rPr lang="en-IN" dirty="0">
                <a:latin typeface="Times New Roman" panose="02020603050405020304" pitchFamily="18" charset="0"/>
                <a:ea typeface="Calibri" panose="020F0502020204030204" pitchFamily="34" charset="0"/>
                <a:cs typeface="Times New Roman" panose="02020603050405020304" pitchFamily="18" charset="0"/>
              </a:rPr>
              <a:t>begins by fitting a classifier on the original dataset and then fits additional copies of the classifier on the same dataset but where the weights of incorrectly classified instances are adjusted such that subsequent classifiers focus more on difficult cases.</a:t>
            </a:r>
          </a:p>
          <a:p>
            <a:pPr lvl="0">
              <a:lnSpc>
                <a:spcPct val="150000"/>
              </a:lnSpc>
              <a:spcAft>
                <a:spcPts val="80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Cat boost </a:t>
            </a:r>
          </a:p>
          <a:p>
            <a:pPr>
              <a:lnSpc>
                <a:spcPct val="150000"/>
              </a:lnSpc>
            </a:pPr>
            <a:r>
              <a:rPr lang="en-IN" dirty="0">
                <a:solidFill>
                  <a:srgbClr val="202124"/>
                </a:solidFill>
                <a:latin typeface="Times New Roman" panose="02020603050405020304" pitchFamily="18" charset="0"/>
                <a:ea typeface="Calibri" panose="020F0502020204030204" pitchFamily="34" charset="0"/>
                <a:cs typeface="Times New Roman" panose="02020603050405020304" pitchFamily="18" charset="0"/>
              </a:rPr>
              <a:t>Cat Boost is a recently </a:t>
            </a:r>
            <a:r>
              <a:rPr lang="en-IN" dirty="0">
                <a:latin typeface="Times New Roman" pitchFamily="18" charset="0"/>
                <a:ea typeface="Calibri" panose="020F0502020204030204" pitchFamily="34" charset="0"/>
                <a:cs typeface="Times New Roman" pitchFamily="18" charset="0"/>
              </a:rPr>
              <a:t>open-sourced machine learning algorithm from </a:t>
            </a:r>
            <a:r>
              <a:rPr lang="en-IN" dirty="0" err="1">
                <a:latin typeface="Times New Roman" pitchFamily="18" charset="0"/>
                <a:ea typeface="Calibri" panose="020F0502020204030204" pitchFamily="34" charset="0"/>
                <a:cs typeface="Times New Roman" pitchFamily="18" charset="0"/>
              </a:rPr>
              <a:t>Yandex</a:t>
            </a:r>
            <a:r>
              <a:rPr lang="en-IN" dirty="0">
                <a:latin typeface="Times New Roman" pitchFamily="18" charset="0"/>
                <a:ea typeface="Calibri" panose="020F0502020204030204" pitchFamily="34" charset="0"/>
                <a:cs typeface="Times New Roman" pitchFamily="18" charset="0"/>
              </a:rPr>
              <a:t>. It yields state-of-the-art results without extensive data training typically required by other machine learning methods, and. Provides powerful out-of-the-box support for the more descriptive data formats that accompany many business problems.</a:t>
            </a:r>
          </a:p>
        </p:txBody>
      </p:sp>
    </p:spTree>
    <p:extLst>
      <p:ext uri="{BB962C8B-B14F-4D97-AF65-F5344CB8AC3E}">
        <p14:creationId xmlns:p14="http://schemas.microsoft.com/office/powerpoint/2010/main" val="2851246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B7E7C-144A-4C36-9563-FD9FC5FBD2F5}"/>
              </a:ext>
            </a:extLst>
          </p:cNvPr>
          <p:cNvSpPr>
            <a:spLocks noGrp="1"/>
          </p:cNvSpPr>
          <p:nvPr>
            <p:ph type="title"/>
          </p:nvPr>
        </p:nvSpPr>
        <p:spPr>
          <a:xfrm>
            <a:off x="333955" y="523433"/>
            <a:ext cx="7762945" cy="1021600"/>
          </a:xfrm>
        </p:spPr>
        <p:txBody>
          <a:bodyPr/>
          <a:lstStyle/>
          <a:p>
            <a:r>
              <a:rPr lang="en-IN" sz="4800" b="1" dirty="0">
                <a:latin typeface="Times New Roman" panose="02020603050405020304" pitchFamily="18" charset="0"/>
                <a:cs typeface="Times New Roman" panose="02020603050405020304" pitchFamily="18" charset="0"/>
              </a:rPr>
              <a:t>MODULE DESCRIPTIONS</a:t>
            </a:r>
          </a:p>
        </p:txBody>
      </p:sp>
      <p:sp>
        <p:nvSpPr>
          <p:cNvPr id="3" name="Text Placeholder 2">
            <a:extLst>
              <a:ext uri="{FF2B5EF4-FFF2-40B4-BE49-F238E27FC236}">
                <a16:creationId xmlns:a16="http://schemas.microsoft.com/office/drawing/2014/main" id="{884DE1D4-353E-4107-8B1F-4152E684DADE}"/>
              </a:ext>
            </a:extLst>
          </p:cNvPr>
          <p:cNvSpPr>
            <a:spLocks noGrp="1"/>
          </p:cNvSpPr>
          <p:nvPr>
            <p:ph type="body" idx="1"/>
          </p:nvPr>
        </p:nvSpPr>
        <p:spPr>
          <a:xfrm>
            <a:off x="206734" y="1784741"/>
            <a:ext cx="10474762" cy="4870518"/>
          </a:xfrm>
        </p:spPr>
        <p:txBody>
          <a:bodyPr/>
          <a:lstStyle/>
          <a:p>
            <a:pPr indent="0" fontAlgn="base">
              <a:lnSpc>
                <a:spcPct val="150000"/>
              </a:lnSpc>
              <a:spcAft>
                <a:spcPts val="800"/>
              </a:spcAft>
              <a:buNone/>
            </a:pPr>
            <a:r>
              <a:rPr lang="en-US" sz="1800" b="1" dirty="0"/>
              <a:t>XG boost </a:t>
            </a:r>
          </a:p>
          <a:p>
            <a:pPr indent="0" fontAlgn="base">
              <a:lnSpc>
                <a:spcPct val="150000"/>
              </a:lnSpc>
              <a:spcAft>
                <a:spcPts val="800"/>
              </a:spcAft>
              <a:buNone/>
            </a:pPr>
            <a:r>
              <a:rPr lang="en-IN" sz="1800" dirty="0">
                <a:solidFill>
                  <a:srgbClr val="202124"/>
                </a:solidFill>
                <a:latin typeface="Times New Roman" panose="02020603050405020304" pitchFamily="18" charset="0"/>
                <a:ea typeface="Calibri" panose="020F0502020204030204" pitchFamily="34" charset="0"/>
                <a:cs typeface="Times New Roman" panose="02020603050405020304" pitchFamily="18" charset="0"/>
              </a:rPr>
              <a:t>The </a:t>
            </a:r>
            <a:r>
              <a:rPr lang="en-IN" sz="1800" dirty="0" err="1">
                <a:solidFill>
                  <a:srgbClr val="202124"/>
                </a:solidFill>
                <a:latin typeface="Times New Roman" panose="02020603050405020304" pitchFamily="18" charset="0"/>
                <a:ea typeface="Calibri" panose="020F0502020204030204" pitchFamily="34" charset="0"/>
                <a:cs typeface="Times New Roman" panose="02020603050405020304" pitchFamily="18" charset="0"/>
              </a:rPr>
              <a:t>XGBoost</a:t>
            </a:r>
            <a:r>
              <a:rPr lang="en-IN" sz="1800" dirty="0">
                <a:solidFill>
                  <a:srgbClr val="202124"/>
                </a:solidFill>
                <a:latin typeface="Times New Roman" panose="02020603050405020304" pitchFamily="18" charset="0"/>
                <a:ea typeface="Calibri" panose="020F0502020204030204" pitchFamily="34" charset="0"/>
                <a:cs typeface="Times New Roman" panose="02020603050405020304" pitchFamily="18" charset="0"/>
              </a:rPr>
              <a:t> library implements the </a:t>
            </a:r>
            <a:r>
              <a:rPr lang="en-IN" sz="1800" dirty="0">
                <a:latin typeface="Calibri" panose="020F0502020204030204" pitchFamily="34" charset="0"/>
                <a:ea typeface="Calibri" panose="020F0502020204030204" pitchFamily="34" charset="0"/>
                <a:cs typeface="Times New Roman" panose="02020603050405020304" pitchFamily="18" charset="0"/>
              </a:rPr>
              <a:t>gradient boosting decision tree algorithm. It is called gradient boosting because it uses a gradient descent algorithm to minimize the loss when adding new models. This approach supports both regression and classification predictive modelling problems.</a:t>
            </a:r>
          </a:p>
          <a:p>
            <a:endParaRPr lang="en-IN" sz="1800" dirty="0"/>
          </a:p>
          <a:p>
            <a:pPr indent="0" algn="just" fontAlgn="base">
              <a:lnSpc>
                <a:spcPct val="150000"/>
              </a:lnSpc>
              <a:spcAft>
                <a:spcPts val="800"/>
              </a:spcAft>
              <a:buNone/>
            </a:pPr>
            <a:endParaRPr lang="en-IN" sz="1800" dirty="0"/>
          </a:p>
        </p:txBody>
      </p:sp>
    </p:spTree>
    <p:extLst>
      <p:ext uri="{BB962C8B-B14F-4D97-AF65-F5344CB8AC3E}">
        <p14:creationId xmlns:p14="http://schemas.microsoft.com/office/powerpoint/2010/main" val="1547669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906" y="523433"/>
            <a:ext cx="7754994" cy="1021600"/>
          </a:xfrm>
        </p:spPr>
        <p:txBody>
          <a:bodyPr/>
          <a:lstStyle/>
          <a:p>
            <a:r>
              <a:rPr lang="en-IN" b="1" dirty="0">
                <a:latin typeface="Times New Roman" panose="02020603050405020304" pitchFamily="18" charset="0"/>
                <a:cs typeface="Times New Roman" panose="02020603050405020304" pitchFamily="18" charset="0"/>
              </a:rPr>
              <a:t>MODULE DESCRIPTIONS</a:t>
            </a:r>
            <a:endParaRPr lang="en-IN" dirty="0"/>
          </a:p>
        </p:txBody>
      </p:sp>
      <p:sp>
        <p:nvSpPr>
          <p:cNvPr id="3" name="Text Placeholder 2"/>
          <p:cNvSpPr>
            <a:spLocks noGrp="1"/>
          </p:cNvSpPr>
          <p:nvPr>
            <p:ph type="body" idx="1"/>
          </p:nvPr>
        </p:nvSpPr>
        <p:spPr>
          <a:xfrm>
            <a:off x="664279" y="1804160"/>
            <a:ext cx="8980651" cy="3632400"/>
          </a:xfrm>
        </p:spPr>
        <p:txBody>
          <a:bodyPr/>
          <a:lstStyle/>
          <a:p>
            <a:pPr marL="135464" indent="0">
              <a:lnSpc>
                <a:spcPct val="150000"/>
              </a:lnSpc>
              <a:buNone/>
            </a:pPr>
            <a:r>
              <a:rPr lang="en-US" sz="1800" b="1" dirty="0">
                <a:latin typeface="Times New Roman" panose="02020603050405020304" pitchFamily="18" charset="0"/>
                <a:cs typeface="Times New Roman" panose="02020603050405020304" pitchFamily="18" charset="0"/>
              </a:rPr>
              <a:t>Module 5: Evaluate Accuracy</a:t>
            </a:r>
          </a:p>
          <a:p>
            <a:pPr marL="135464" indent="0">
              <a:lnSpc>
                <a:spcPct val="150000"/>
              </a:lnSpc>
              <a:buNone/>
            </a:pPr>
            <a:r>
              <a:rPr lang="en-US" sz="1800" dirty="0">
                <a:latin typeface="Times New Roman" pitchFamily="18" charset="0"/>
                <a:cs typeface="Times New Roman" pitchFamily="18" charset="0"/>
              </a:rPr>
              <a:t>Accuracy is one metric for evaluating classification models. Informally, accuracy is the fraction of predictions our model got right. Formally, accuracy has the following definition: Accuracy = Number of correct predictions Total number of predictions. </a:t>
            </a:r>
          </a:p>
          <a:p>
            <a:pPr marL="135464" indent="0">
              <a:lnSpc>
                <a:spcPct val="150000"/>
              </a:lnSpc>
              <a:buNone/>
            </a:pPr>
            <a:r>
              <a:rPr lang="en-US" sz="1800" dirty="0">
                <a:latin typeface="Times New Roman" pitchFamily="18" charset="0"/>
                <a:cs typeface="Times New Roman" pitchFamily="18" charset="0"/>
              </a:rPr>
              <a:t>Using all the models we are getting accuracy score for the prediction </a:t>
            </a:r>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3244084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517" y="523433"/>
            <a:ext cx="7691383" cy="1021600"/>
          </a:xfrm>
        </p:spPr>
        <p:txBody>
          <a:bodyPr/>
          <a:lstStyle/>
          <a:p>
            <a:r>
              <a:rPr lang="en-IN" b="1" dirty="0">
                <a:latin typeface="Times New Roman" panose="02020603050405020304" pitchFamily="18" charset="0"/>
                <a:cs typeface="Times New Roman" panose="02020603050405020304" pitchFamily="18" charset="0"/>
              </a:rPr>
              <a:t>MODULE DESCRIPTIONS</a:t>
            </a:r>
            <a:endParaRPr lang="en-IN" dirty="0"/>
          </a:p>
        </p:txBody>
      </p:sp>
      <p:sp>
        <p:nvSpPr>
          <p:cNvPr id="3" name="Text Placeholder 2"/>
          <p:cNvSpPr>
            <a:spLocks noGrp="1"/>
          </p:cNvSpPr>
          <p:nvPr>
            <p:ph type="body" idx="1"/>
          </p:nvPr>
        </p:nvSpPr>
        <p:spPr>
          <a:xfrm>
            <a:off x="473448" y="1764404"/>
            <a:ext cx="10451643" cy="3632400"/>
          </a:xfrm>
        </p:spPr>
        <p:txBody>
          <a:bodyPr/>
          <a:lstStyle/>
          <a:p>
            <a:pPr marL="135464" indent="0">
              <a:lnSpc>
                <a:spcPct val="150000"/>
              </a:lnSpc>
              <a:buNone/>
            </a:pPr>
            <a:r>
              <a:rPr lang="en-US" sz="1800" b="1" dirty="0">
                <a:latin typeface="Times New Roman" panose="02020603050405020304" pitchFamily="18" charset="0"/>
                <a:cs typeface="Times New Roman" panose="02020603050405020304" pitchFamily="18" charset="0"/>
              </a:rPr>
              <a:t>Module 6: Flask Prediction </a:t>
            </a:r>
          </a:p>
          <a:p>
            <a:pPr marL="135464" indent="0">
              <a:lnSpc>
                <a:spcPct val="150000"/>
              </a:lnSpc>
              <a:buNone/>
            </a:pPr>
            <a:r>
              <a:rPr lang="en-US" sz="1800" dirty="0"/>
              <a:t>A Web Application framework or a simply a </a:t>
            </a:r>
            <a:r>
              <a:rPr lang="en-US" sz="1800"/>
              <a:t>Web framework </a:t>
            </a:r>
            <a:r>
              <a:rPr lang="en-US" sz="1800" dirty="0"/>
              <a:t>represents a collection of libraries and modules that enable web application developers to write applications without worrying about low-level details such as protocol, thread management, and so on.</a:t>
            </a:r>
          </a:p>
          <a:p>
            <a:pPr marL="135464" indent="0">
              <a:lnSpc>
                <a:spcPct val="150000"/>
              </a:lnSpc>
              <a:buNone/>
            </a:pPr>
            <a:r>
              <a:rPr lang="en-US" sz="1800" dirty="0">
                <a:latin typeface="Times New Roman" pitchFamily="18" charset="0"/>
                <a:cs typeface="Times New Roman" pitchFamily="18" charset="0"/>
              </a:rPr>
              <a:t>By using the flask model we are predicting in the web framework to find whether the data is fraud or not fraud for each and every values in the CSV file. </a:t>
            </a:r>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1516103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921" y="523433"/>
            <a:ext cx="8319541" cy="1021600"/>
          </a:xfrm>
        </p:spPr>
        <p:txBody>
          <a:bodyPr/>
          <a:lstStyle/>
          <a:p>
            <a:r>
              <a:rPr lang="en-US" b="1" dirty="0">
                <a:latin typeface="Times New Roman" pitchFamily="18" charset="0"/>
                <a:cs typeface="Times New Roman" pitchFamily="18" charset="0"/>
              </a:rPr>
              <a:t>SOFTWARE REQUIREMENTS</a:t>
            </a:r>
            <a:endParaRPr lang="en-IN" b="1" dirty="0"/>
          </a:p>
        </p:txBody>
      </p:sp>
      <p:sp>
        <p:nvSpPr>
          <p:cNvPr id="3" name="Text Placeholder 2"/>
          <p:cNvSpPr>
            <a:spLocks noGrp="1"/>
          </p:cNvSpPr>
          <p:nvPr>
            <p:ph type="body" idx="1"/>
          </p:nvPr>
        </p:nvSpPr>
        <p:spPr>
          <a:xfrm>
            <a:off x="1085700" y="2050651"/>
            <a:ext cx="10864475" cy="3712840"/>
          </a:xfrm>
        </p:spPr>
        <p:txBody>
          <a:bodyPr/>
          <a:lstStyle/>
          <a:p>
            <a:pPr algn="just" defTabSz="1147205">
              <a:lnSpc>
                <a:spcPct val="150000"/>
              </a:lnSpc>
              <a:buFont typeface="Wingdings" panose="05000000000000000000" pitchFamily="2" charset="2"/>
              <a:buChar char="q"/>
            </a:pPr>
            <a:r>
              <a:rPr lang="en-US" sz="1800" dirty="0">
                <a:solidFill>
                  <a:srgbClr val="000000"/>
                </a:solidFill>
                <a:latin typeface="Times New Roman" pitchFamily="18" charset="0"/>
                <a:cs typeface="Times New Roman" pitchFamily="18" charset="0"/>
              </a:rPr>
              <a:t>Operating System     :   Windows 7,8,10 (64 bit)</a:t>
            </a:r>
          </a:p>
          <a:p>
            <a:pPr algn="just">
              <a:lnSpc>
                <a:spcPct val="150000"/>
              </a:lnSpc>
              <a:buFont typeface="Wingdings" panose="05000000000000000000" pitchFamily="2" charset="2"/>
              <a:buChar char="q"/>
              <a:tabLst>
                <a:tab pos="5736023" algn="l"/>
              </a:tabLst>
            </a:pPr>
            <a:r>
              <a:rPr lang="en-US" sz="1800" dirty="0">
                <a:solidFill>
                  <a:srgbClr val="000000"/>
                </a:solidFill>
                <a:latin typeface="Times New Roman" pitchFamily="18" charset="0"/>
                <a:cs typeface="Times New Roman" pitchFamily="18" charset="0"/>
              </a:rPr>
              <a:t>Software                   :    Python </a:t>
            </a:r>
          </a:p>
          <a:p>
            <a:pPr algn="just">
              <a:lnSpc>
                <a:spcPct val="150000"/>
              </a:lnSpc>
              <a:buFont typeface="Wingdings" panose="05000000000000000000" pitchFamily="2" charset="2"/>
              <a:buChar char="q"/>
              <a:tabLst>
                <a:tab pos="5736023" algn="l"/>
              </a:tabLst>
            </a:pPr>
            <a:r>
              <a:rPr lang="en-US" sz="1800" dirty="0">
                <a:solidFill>
                  <a:srgbClr val="000000"/>
                </a:solidFill>
                <a:latin typeface="Times New Roman" pitchFamily="18" charset="0"/>
                <a:cs typeface="Times New Roman" pitchFamily="18" charset="0"/>
              </a:rPr>
              <a:t>Tools                        :    Anaconda (Jupyter notebook IDE)</a:t>
            </a:r>
          </a:p>
          <a:p>
            <a:pPr>
              <a:lnSpc>
                <a:spcPct val="150000"/>
              </a:lnSpc>
              <a:buFont typeface="Wingdings" panose="05000000000000000000" pitchFamily="2" charset="2"/>
              <a:buChar char="q"/>
            </a:pPr>
            <a:endParaRPr lang="en-IN" sz="1800" dirty="0">
              <a:solidFill>
                <a:srgbClr val="000000"/>
              </a:solidFill>
            </a:endParaRPr>
          </a:p>
        </p:txBody>
      </p:sp>
      <p:sp>
        <p:nvSpPr>
          <p:cNvPr id="5" name="Slide Number Placeholder 4"/>
          <p:cNvSpPr>
            <a:spLocks noGrp="1"/>
          </p:cNvSpPr>
          <p:nvPr>
            <p:ph type="sldNum" idx="12"/>
          </p:nvPr>
        </p:nvSpPr>
        <p:spPr/>
        <p:txBody>
          <a:bodyPr/>
          <a:lstStyle/>
          <a:p>
            <a:fld id="{00000000-1234-1234-1234-123412341234}" type="slidenum">
              <a:rPr lang="en" smtClean="0"/>
              <a:pPr/>
              <a:t>19</a:t>
            </a:fld>
            <a:endParaRPr lang="en"/>
          </a:p>
        </p:txBody>
      </p:sp>
    </p:spTree>
    <p:extLst>
      <p:ext uri="{BB962C8B-B14F-4D97-AF65-F5344CB8AC3E}">
        <p14:creationId xmlns:p14="http://schemas.microsoft.com/office/powerpoint/2010/main" val="3407818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523433"/>
            <a:ext cx="8739266" cy="1021600"/>
          </a:xfrm>
        </p:spPr>
        <p:txBody>
          <a:bodyPr/>
          <a:lstStyle/>
          <a:p>
            <a:pPr>
              <a:lnSpc>
                <a:spcPct val="150000"/>
              </a:lnSpc>
            </a:pPr>
            <a:r>
              <a:rPr lang="en-US" b="1" dirty="0">
                <a:latin typeface="Times New Roman" pitchFamily="18" charset="0"/>
                <a:cs typeface="Times New Roman" pitchFamily="18" charset="0"/>
              </a:rPr>
              <a:t>HARDWARE REQUIREMENTS</a:t>
            </a:r>
            <a:endParaRPr lang="en-IN" b="1" dirty="0">
              <a:latin typeface="Times New Roman" pitchFamily="18" charset="0"/>
              <a:cs typeface="Times New Roman" pitchFamily="18" charset="0"/>
            </a:endParaRPr>
          </a:p>
        </p:txBody>
      </p:sp>
      <p:sp>
        <p:nvSpPr>
          <p:cNvPr id="3" name="Text Placeholder 2"/>
          <p:cNvSpPr>
            <a:spLocks noGrp="1"/>
          </p:cNvSpPr>
          <p:nvPr>
            <p:ph type="body" idx="1"/>
          </p:nvPr>
        </p:nvSpPr>
        <p:spPr>
          <a:xfrm>
            <a:off x="1085700" y="1974903"/>
            <a:ext cx="10562195" cy="3708148"/>
          </a:xfrm>
        </p:spPr>
        <p:txBody>
          <a:bodyPr/>
          <a:lstStyle/>
          <a:p>
            <a:pPr lvl="0">
              <a:lnSpc>
                <a:spcPct val="150000"/>
              </a:lnSpc>
              <a:buFont typeface="Wingdings" panose="05000000000000000000" pitchFamily="2" charset="2"/>
              <a:buChar char="q"/>
            </a:pPr>
            <a:r>
              <a:rPr lang="en-US" sz="1800" dirty="0">
                <a:solidFill>
                  <a:srgbClr val="000000"/>
                </a:solidFill>
                <a:latin typeface="Times New Roman" pitchFamily="18" charset="0"/>
                <a:cs typeface="Times New Roman" pitchFamily="18" charset="0"/>
              </a:rPr>
              <a:t>Hard Disk		:	500GB and above</a:t>
            </a:r>
          </a:p>
          <a:p>
            <a:pPr lvl="0">
              <a:lnSpc>
                <a:spcPct val="150000"/>
              </a:lnSpc>
              <a:buFont typeface="Wingdings" panose="05000000000000000000" pitchFamily="2" charset="2"/>
              <a:buChar char="q"/>
            </a:pPr>
            <a:r>
              <a:rPr lang="en-US" sz="1800" dirty="0">
                <a:solidFill>
                  <a:srgbClr val="000000"/>
                </a:solidFill>
                <a:latin typeface="Times New Roman" pitchFamily="18" charset="0"/>
                <a:cs typeface="Times New Roman" pitchFamily="18" charset="0"/>
              </a:rPr>
              <a:t>RAM		: 	4GB and above</a:t>
            </a:r>
          </a:p>
          <a:p>
            <a:pPr lvl="0">
              <a:lnSpc>
                <a:spcPct val="150000"/>
              </a:lnSpc>
              <a:buFont typeface="Wingdings" panose="05000000000000000000" pitchFamily="2" charset="2"/>
              <a:buChar char="q"/>
            </a:pPr>
            <a:r>
              <a:rPr lang="en-US" sz="1800" dirty="0">
                <a:solidFill>
                  <a:srgbClr val="000000"/>
                </a:solidFill>
                <a:latin typeface="Times New Roman" pitchFamily="18" charset="0"/>
                <a:cs typeface="Times New Roman" pitchFamily="18" charset="0"/>
              </a:rPr>
              <a:t>Processor		:	I5 and above</a:t>
            </a:r>
          </a:p>
          <a:p>
            <a:pPr marL="135463" indent="0">
              <a:lnSpc>
                <a:spcPct val="150000"/>
              </a:lnSpc>
              <a:buNone/>
            </a:pPr>
            <a:endParaRPr lang="en-IN" sz="1800" dirty="0">
              <a:solidFill>
                <a:srgbClr val="000000"/>
              </a:solidFill>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a:lnSpc>
                <a:spcPct val="150000"/>
              </a:lnSpc>
            </a:pPr>
            <a:fld id="{00000000-1234-1234-1234-123412341234}" type="slidenum">
              <a:rPr lang="en" sz="2133">
                <a:solidFill>
                  <a:srgbClr val="000000"/>
                </a:solidFill>
                <a:latin typeface="Times New Roman" pitchFamily="18" charset="0"/>
                <a:cs typeface="Times New Roman" pitchFamily="18" charset="0"/>
              </a:rPr>
              <a:pPr>
                <a:lnSpc>
                  <a:spcPct val="150000"/>
                </a:lnSpc>
              </a:pPr>
              <a:t>20</a:t>
            </a:fld>
            <a:endParaRPr lang="en" sz="2133">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014894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US" b="1" dirty="0">
                <a:latin typeface="Times New Roman" pitchFamily="18" charset="0"/>
                <a:cs typeface="Times New Roman" pitchFamily="18" charset="0"/>
              </a:rPr>
              <a:t>CONCLUSION</a:t>
            </a:r>
            <a:endParaRPr lang="en-IN" b="1"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21</a:t>
            </a:fld>
            <a:endParaRPr lang="en"/>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lstStyle/>
          <a:p>
            <a:pPr algn="just">
              <a:lnSpc>
                <a:spcPct val="150000"/>
              </a:lnSpc>
            </a:pPr>
            <a:r>
              <a:rPr lang="en-US" sz="1800" dirty="0">
                <a:latin typeface="Times New Roman" pitchFamily="18" charset="0"/>
                <a:cs typeface="Times New Roman" pitchFamily="18" charset="0"/>
              </a:rPr>
              <a:t>This project implemented several Machine Learning algorithms for credit card fraud detection using the credit card fraud dataset. The Machine Learning methods proposed in this project included the random forest, </a:t>
            </a:r>
            <a:r>
              <a:rPr lang="en-US" sz="1800" dirty="0" err="1">
                <a:latin typeface="Times New Roman" pitchFamily="18" charset="0"/>
                <a:cs typeface="Times New Roman" pitchFamily="18" charset="0"/>
              </a:rPr>
              <a:t>ada</a:t>
            </a:r>
            <a:r>
              <a:rPr lang="en-US" sz="1800" dirty="0">
                <a:latin typeface="Times New Roman" pitchFamily="18" charset="0"/>
                <a:cs typeface="Times New Roman" pitchFamily="18" charset="0"/>
              </a:rPr>
              <a:t> boost, cat boost, XG boost and light CBM. Additionally, we are predicting the models and gaining the values of accuracy and confusion matrix. </a:t>
            </a:r>
          </a:p>
          <a:p>
            <a:pPr algn="just">
              <a:lnSpc>
                <a:spcPct val="150000"/>
              </a:lnSpc>
            </a:pPr>
            <a:r>
              <a:rPr lang="en-US" sz="1800" dirty="0">
                <a:latin typeface="Times New Roman" pitchFamily="18" charset="0"/>
                <a:cs typeface="Times New Roman" pitchFamily="18" charset="0"/>
              </a:rPr>
              <a:t>And evaluating the results in the flask model to implement the values in web framework to predict each and every values.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4252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862" y="523433"/>
            <a:ext cx="7887038" cy="1021600"/>
          </a:xfrm>
        </p:spPr>
        <p:txBody>
          <a:bodyPr/>
          <a:lstStyle/>
          <a:p>
            <a:r>
              <a:rPr lang="en-US" b="1" dirty="0">
                <a:latin typeface="Times New Roman" panose="02020603050405020304" pitchFamily="18" charset="0"/>
                <a:cs typeface="Times New Roman" panose="02020603050405020304" pitchFamily="18" charset="0"/>
              </a:rPr>
              <a:t>REFRENCES</a:t>
            </a:r>
            <a:endParaRPr lang="en-IN" b="1" dirty="0"/>
          </a:p>
        </p:txBody>
      </p:sp>
      <p:sp>
        <p:nvSpPr>
          <p:cNvPr id="3" name="Text Placeholder 2"/>
          <p:cNvSpPr>
            <a:spLocks noGrp="1"/>
          </p:cNvSpPr>
          <p:nvPr>
            <p:ph type="body" idx="1"/>
          </p:nvPr>
        </p:nvSpPr>
        <p:spPr>
          <a:xfrm>
            <a:off x="209862" y="1918649"/>
            <a:ext cx="11282091" cy="4473751"/>
          </a:xfrm>
        </p:spPr>
        <p:txBody>
          <a:bodyPr/>
          <a:lstStyle/>
          <a:p>
            <a:pPr algn="just">
              <a:lnSpc>
                <a:spcPct val="150000"/>
              </a:lnSpc>
            </a:pPr>
            <a:r>
              <a:rPr lang="en-US" sz="1800" dirty="0" err="1">
                <a:latin typeface="Times New Roman" panose="02020603050405020304" pitchFamily="18" charset="0"/>
                <a:cs typeface="Times New Roman" panose="02020603050405020304" pitchFamily="18" charset="0"/>
              </a:rPr>
              <a:t>Nitu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Kumari</a:t>
            </a:r>
            <a:r>
              <a:rPr lang="en-US" sz="1800" dirty="0">
                <a:latin typeface="Times New Roman" panose="02020603050405020304" pitchFamily="18" charset="0"/>
                <a:cs typeface="Times New Roman" panose="02020603050405020304" pitchFamily="18" charset="0"/>
              </a:rPr>
              <a:t>, S. </a:t>
            </a:r>
            <a:r>
              <a:rPr lang="en-US" sz="1800" dirty="0" err="1">
                <a:latin typeface="Times New Roman" panose="02020603050405020304" pitchFamily="18" charset="0"/>
                <a:cs typeface="Times New Roman" panose="02020603050405020304" pitchFamily="18" charset="0"/>
              </a:rPr>
              <a:t>Kannan</a:t>
            </a:r>
            <a:r>
              <a:rPr lang="en-US" sz="1800" dirty="0">
                <a:latin typeface="Times New Roman" panose="02020603050405020304" pitchFamily="18" charset="0"/>
                <a:cs typeface="Times New Roman" panose="02020603050405020304" pitchFamily="18" charset="0"/>
              </a:rPr>
              <a:t> and A. </a:t>
            </a:r>
            <a:r>
              <a:rPr lang="en-US" sz="1800" dirty="0" err="1">
                <a:latin typeface="Times New Roman" panose="02020603050405020304" pitchFamily="18" charset="0"/>
                <a:cs typeface="Times New Roman" panose="02020603050405020304" pitchFamily="18" charset="0"/>
              </a:rPr>
              <a:t>Muthukumaravel</a:t>
            </a:r>
            <a:r>
              <a:rPr lang="en-US" sz="1800" dirty="0">
                <a:latin typeface="Times New Roman" panose="02020603050405020304" pitchFamily="18" charset="0"/>
                <a:cs typeface="Times New Roman" panose="02020603050405020304" pitchFamily="18" charset="0"/>
              </a:rPr>
              <a:t>, “Credit Card Fraud Detection Using Genetic-A Survey” published by </a:t>
            </a:r>
            <a:r>
              <a:rPr lang="en-US" sz="1800" dirty="0" err="1">
                <a:latin typeface="Times New Roman" panose="02020603050405020304" pitchFamily="18" charset="0"/>
                <a:cs typeface="Times New Roman" panose="02020603050405020304" pitchFamily="18" charset="0"/>
              </a:rPr>
              <a:t>MiddleEast</a:t>
            </a:r>
            <a:r>
              <a:rPr lang="en-US" sz="1800" dirty="0">
                <a:latin typeface="Times New Roman" panose="02020603050405020304" pitchFamily="18" charset="0"/>
                <a:cs typeface="Times New Roman" panose="02020603050405020304" pitchFamily="18" charset="0"/>
              </a:rPr>
              <a:t> Journal of Scientific Research , IDOSI Publications, 2014.</a:t>
            </a:r>
          </a:p>
          <a:p>
            <a:pPr algn="just">
              <a:lnSpc>
                <a:spcPct val="150000"/>
              </a:lnSpc>
            </a:pPr>
            <a:r>
              <a:rPr lang="en-IN" sz="1800" dirty="0" err="1">
                <a:latin typeface="Times New Roman" panose="02020603050405020304" pitchFamily="18" charset="0"/>
                <a:cs typeface="Times New Roman" panose="02020603050405020304" pitchFamily="18" charset="0"/>
              </a:rPr>
              <a:t>Satvik</a:t>
            </a:r>
            <a:r>
              <a:rPr lang="en-IN" sz="1800" dirty="0">
                <a:latin typeface="Times New Roman" panose="02020603050405020304" pitchFamily="18" charset="0"/>
                <a:cs typeface="Times New Roman" panose="02020603050405020304" pitchFamily="18" charset="0"/>
              </a:rPr>
              <a:t> Vats, Surya Kant </a:t>
            </a:r>
            <a:r>
              <a:rPr lang="en-IN" sz="1800" dirty="0" err="1">
                <a:latin typeface="Times New Roman" panose="02020603050405020304" pitchFamily="18" charset="0"/>
                <a:cs typeface="Times New Roman" panose="02020603050405020304" pitchFamily="18" charset="0"/>
              </a:rPr>
              <a:t>Dubey</a:t>
            </a:r>
            <a:r>
              <a:rPr lang="en-IN" sz="1800" dirty="0">
                <a:latin typeface="Times New Roman" panose="02020603050405020304" pitchFamily="18" charset="0"/>
                <a:cs typeface="Times New Roman" panose="02020603050405020304" pitchFamily="18" charset="0"/>
              </a:rPr>
              <a:t>, Naveen Kumar </a:t>
            </a:r>
            <a:r>
              <a:rPr lang="en-IN" sz="1800" dirty="0" err="1">
                <a:latin typeface="Times New Roman" panose="02020603050405020304" pitchFamily="18" charset="0"/>
                <a:cs typeface="Times New Roman" panose="02020603050405020304" pitchFamily="18" charset="0"/>
              </a:rPr>
              <a:t>Pandey</a:t>
            </a:r>
            <a:r>
              <a:rPr lang="en-IN" sz="1800" dirty="0">
                <a:latin typeface="Times New Roman" panose="02020603050405020304" pitchFamily="18" charset="0"/>
                <a:cs typeface="Times New Roman" panose="02020603050405020304" pitchFamily="18" charset="0"/>
              </a:rPr>
              <a:t>, “A Tool for Effective Detection of Fraud in Credit Card System”, published in International Journal of Communication Network Security ISSN: 2231 – 1882, Volume-2, Issue-1, 2013.</a:t>
            </a:r>
          </a:p>
        </p:txBody>
      </p:sp>
      <p:sp>
        <p:nvSpPr>
          <p:cNvPr id="5" name="Slide Number Placeholder 4"/>
          <p:cNvSpPr>
            <a:spLocks noGrp="1"/>
          </p:cNvSpPr>
          <p:nvPr>
            <p:ph type="sldNum" idx="12"/>
          </p:nvPr>
        </p:nvSpPr>
        <p:spPr/>
        <p:txBody>
          <a:bodyPr/>
          <a:lstStyle/>
          <a:p>
            <a:fld id="{00000000-1234-1234-1234-123412341234}" type="slidenum">
              <a:rPr lang="en" smtClean="0"/>
              <a:pPr/>
              <a:t>22</a:t>
            </a:fld>
            <a:endParaRPr lang="en"/>
          </a:p>
        </p:txBody>
      </p:sp>
    </p:spTree>
    <p:extLst>
      <p:ext uri="{BB962C8B-B14F-4D97-AF65-F5344CB8AC3E}">
        <p14:creationId xmlns:p14="http://schemas.microsoft.com/office/powerpoint/2010/main" val="24937753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388</TotalTime>
  <Words>1576</Words>
  <Application>Microsoft Office PowerPoint</Application>
  <PresentationFormat>Widescreen</PresentationFormat>
  <Paragraphs>121</Paragraphs>
  <Slides>22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Arvo</vt:lpstr>
      <vt:lpstr>Calibri</vt:lpstr>
      <vt:lpstr>Calibri Light</vt:lpstr>
      <vt:lpstr>Times New Roman</vt:lpstr>
      <vt:lpstr>Wingdings</vt:lpstr>
      <vt:lpstr>Office Theme</vt:lpstr>
      <vt:lpstr>CREDIT CARD FRAUD DETECTION USING MACHINE LEARNING AND FLASK</vt:lpstr>
      <vt:lpstr>AIM OF PROJECT</vt:lpstr>
      <vt:lpstr>ABSTRACT</vt:lpstr>
      <vt:lpstr>INTRODUCTION </vt:lpstr>
      <vt:lpstr>EXISTING SYSTEM</vt:lpstr>
      <vt:lpstr>DISADVANTAGE</vt:lpstr>
      <vt:lpstr>   PROPOSED  SYSTEM</vt:lpstr>
      <vt:lpstr>ADVANTAGES</vt:lpstr>
      <vt:lpstr>SYSTEM ARCHITECTURE  </vt:lpstr>
      <vt:lpstr>SYSTEM MODULE</vt:lpstr>
      <vt:lpstr> MODULE DESCRIPTIONS</vt:lpstr>
      <vt:lpstr> MODULE DESCRIPTIONS</vt:lpstr>
      <vt:lpstr> MODULE DESCRIPTIONS</vt:lpstr>
      <vt:lpstr>MODULE DESCRIPTIONS</vt:lpstr>
      <vt:lpstr>MODULE DESCRIPTIONS</vt:lpstr>
      <vt:lpstr>MODULE DESCRIPTIONS</vt:lpstr>
      <vt:lpstr>MODULE DESCRIPTIONS</vt:lpstr>
      <vt:lpstr>MODULE DESCRIPTIONS</vt:lpstr>
      <vt:lpstr>SOFTWARE REQUIREMENTS</vt:lpstr>
      <vt:lpstr>HARDWARE REQUIREMENTS</vt:lpstr>
      <vt:lpstr>CONCLUSION</vt:lpstr>
      <vt:lpstr>REFRENCES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dc:title>
  <dc:creator>Deepa Sarathi</dc:creator>
  <cp:lastModifiedBy>kavitha jeeva</cp:lastModifiedBy>
  <cp:revision>39</cp:revision>
  <dcterms:created xsi:type="dcterms:W3CDTF">2022-06-01T06:17:28Z</dcterms:created>
  <dcterms:modified xsi:type="dcterms:W3CDTF">2026-03-05T13:02:36Z</dcterms:modified>
</cp:coreProperties>
</file>